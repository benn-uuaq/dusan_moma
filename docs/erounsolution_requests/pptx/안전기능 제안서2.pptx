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7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28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F4D0E-902E-459C-82A7-BF079D8939AB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040B5-5517-4FB8-9FA6-436804205D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21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6A90-86C4-B345-B780-4CD53270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3B149-A868-4100-8435-FBD3492F9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B21A38-3CB2-03BB-C24A-8F076DFE3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A45DD4-8C1E-95A6-5742-0BDC66732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25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D04D-F4AB-9592-3751-BC826E78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E31A56-831D-3E76-D8A5-D4DE66050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2B0D6D-DE8C-2C9B-7270-1D5CF471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19FCC5-56F5-2A29-2566-CA2D13520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18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8CD9F-8FB7-BE88-DAA5-7647649B9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A1DEF5-BA1C-2260-DC2D-81C2F8568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008B85-4D22-91F3-D8CA-8DF045390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A2EDA-5653-BB71-595D-F2A214F54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667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FA56-A79B-A144-0240-84F56C1F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AC0BE4-7BA0-137A-6D29-70DE2F84A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142530-D9DA-F871-A54D-DFA3CE899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E3E99-CEAA-2378-6E05-82D2A9E99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174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E1B5B-E0E1-1F32-73BD-39C4EE70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5D6D5D-D034-2406-6A5D-40F15775F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934E8C-4188-C5DF-DEB8-15728A130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180AD0-60E4-0262-3E39-5273B7E29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18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20661-3E1B-C1B5-DDF2-BFEE5F07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7764FA-C593-35C9-57B3-2C31B2800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182BDA-37AC-4132-F980-5D0AC0E07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924AC7-0407-DF49-0903-C2CF6AF6C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811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71AB-EB87-CC11-EB67-561E8951D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BBF752-565F-5D3D-A06F-8E2B962C2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683546-4EE2-C714-F8CF-FF33086F3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531CF-0127-C483-C075-B4D25BD8C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369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8919-2916-2AFD-5F6A-F0F4BD202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59E71A-1495-BC68-7C6F-6ACCB4FDB0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079494-9945-A89F-2E7A-20F53861A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9540A3-930E-60D7-E274-6D38F5CA8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932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A6C6D-D087-DBA7-DEA9-BEDCA746C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3CF7C-41C8-6CBE-4B75-DB77E32D9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473857-D3D3-4A4E-62F5-341F7E34E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3A1EB-286F-1D32-799C-15053113D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754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3483-42D8-33F3-71ED-03BEA6E01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6334DE-4FB8-616F-EE98-78E5269A5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F47C4-6A5F-1A45-7B39-8984CEAD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FB2D-0E4E-2DB8-35EE-CD5204AB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71EBD-933F-111F-9CEC-44AE9812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79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1CA3B-1BF3-5DAB-1B16-096FBD98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78450-3DBE-C85B-9590-3D893133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E00A09-DDEB-A941-9CED-5F0776D7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02C0E1-2D5B-A63D-FCEA-561540D4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BF245-96B1-7B8D-33F2-1FAF1A77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14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3B7D0-BE94-5589-B884-454223D8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60A4B-49FF-2CB2-CD66-C8C489433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0D1F1-D3E8-3A8F-234C-508AFF179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033F70-96CE-2AF2-36E2-35943F35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5F077-FEE7-E5A7-299B-9CF3D6F8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0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A84AE-30E3-78BE-3E48-D87E3134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088D23-C3EE-F18A-65EA-CD2715C28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1448C-875E-E916-A92C-F2862F5AB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CA883-0C54-B491-A74D-9EAD503F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9B2AC4-F2B3-4A88-2F2C-C27C5AC6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9635AA-1112-CE8F-5EE5-2188C88F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40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F3395-6017-339E-5BB0-0ED4A95C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F955C-E9F1-314E-9B7A-3A6F56991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D44CE6-DD8A-5147-9812-EDFB6EF82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E9F59D-003A-B67A-90C9-EDF967E33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9043B1-1273-129A-3C1B-67148EF3C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14C255-53AF-0F49-580D-56A5BD20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0CE543-D04C-5BEA-5406-DDB4361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DCD4E-0024-C175-8FEE-E92F9DEF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96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CCBB0-5107-2F03-6E9E-31A81211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B5D5AE-C9EB-B284-3FCE-ECDC5386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5F81CC-F21B-F7B0-73C2-F4C47986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E90D2E-D658-825F-A5AE-DBCD8E35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39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415F1B-5D07-A38B-BC90-B1264694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84A37B-0B92-186D-2679-38F64119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463054-114A-64C8-A784-089CC665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10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4F27A-88A9-3A16-14A4-37E45DD6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583DE-272A-A958-9B92-D525E1B89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E9B6E2-E4B1-64DD-68AD-F995F4863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DE7E8-9AEE-00C7-3750-E6FC9F93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81F73F-532B-355C-63AA-87DD80159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233C24-BC4F-1AB9-1972-4D354F76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968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21391-8B2F-6D9F-F93A-03920748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A0D931-7BFD-306A-E42E-CD71FCA15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6E6F3-BEA1-3E31-9DBC-00E03F17C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01F6A2-692D-F4E5-D48E-EF53DC4E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F31190-6D2E-90F1-865D-B2BF15A6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FE4823-26B9-BC37-A619-809E7142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60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8958F-267B-227F-D578-730BDDF1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572ED7-AAE8-6F43-A770-ACE5ED75D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9733F-DED9-85AF-6C80-2888CC13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6BB6A6-D3AE-51A6-28F2-AD55AA1A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ABFCB6-427C-055C-2A32-D2731C6E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19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921A25-8A81-7191-B4CD-E6D70A983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CF12CC-3EEB-EE48-21B8-BC921234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01D47-D6B4-70DD-5AE3-B03A86E0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0772E6-87E0-4053-22D7-A9DAA990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5DE2D6-4F8A-84BA-2024-5B379DB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678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제목슬라이드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A1B9D09-D4EF-0073-3C49-38F00D741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553" y="0"/>
            <a:ext cx="6858893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65ACE36-7624-2C21-261F-9A5E8A169B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4" t="26766" r="27602" b="24234"/>
          <a:stretch>
            <a:fillRect/>
          </a:stretch>
        </p:blipFill>
        <p:spPr>
          <a:xfrm>
            <a:off x="7392313" y="0"/>
            <a:ext cx="4799687" cy="486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11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내용 및 목차 슬라이드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5CC5F1E-D550-1970-24BF-3C0BB2E4B6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1628" y="5842706"/>
            <a:ext cx="2007866" cy="102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82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용 및 목차 슬라이드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A3EAA7D-3AD7-FA48-49B4-023242812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49146" y="6453336"/>
            <a:ext cx="950514" cy="14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615C73-AD57-0988-F650-6D9F96ED3722}"/>
              </a:ext>
            </a:extLst>
          </p:cNvPr>
          <p:cNvSpPr txBox="1"/>
          <p:nvPr userDrawn="1"/>
        </p:nvSpPr>
        <p:spPr>
          <a:xfrm>
            <a:off x="687294" y="6352981"/>
            <a:ext cx="10817411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본 문서에 포함된 모든 내용 (도면, 이미지, 수치 데이터, 설계 사양, 서면 설명 등을 포함하되 이에 한정되지 않음)은 Studio 3S Korea Co., Ltd.의 독점적인 지적 재산입니다.</a:t>
            </a:r>
            <a:endParaRPr lang="en-US" altLang="ko-KR" sz="8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750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본 문서의 전부 또는 일부에 대한 무단 사용, 복제, 전송, 배포는 엄격히 금지되며, 위반 시 법적 책임이 발생할 수 있습니다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55D460-9FE7-BA0B-AEF1-13AFBF737DF4}"/>
              </a:ext>
            </a:extLst>
          </p:cNvPr>
          <p:cNvSpPr txBox="1">
            <a:spLocks/>
          </p:cNvSpPr>
          <p:nvPr userDrawn="1"/>
        </p:nvSpPr>
        <p:spPr>
          <a:xfrm>
            <a:off x="288000" y="6408000"/>
            <a:ext cx="432000" cy="216000"/>
          </a:xfrm>
          <a:prstGeom prst="rect">
            <a:avLst/>
          </a:prstGeom>
        </p:spPr>
        <p:txBody>
          <a:bodyPr vert="horz" lIns="91440" tIns="0" rIns="9144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E4EEA4-0C6F-46BA-9EC1-8BEC41C2986C}" type="slidenum">
              <a:rPr kumimoji="0" lang="ko-KR" altLang="en-US" sz="9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00" b="0" i="1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1097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081362-4316-06E8-F321-9AA06EB7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9CE238-E9E9-2E44-1564-A42AE2648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A8F92-1004-DAEC-7287-ECCF450AB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59B1D-98FB-4450-9DA6-05A8B248070D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AA95A2-CD70-FBFD-959C-024D017D9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20B62-E150-32A2-7813-714984E65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20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CAF7BA4-8AC1-364A-407A-2E238E77C6FD}"/>
              </a:ext>
            </a:extLst>
          </p:cNvPr>
          <p:cNvSpPr/>
          <p:nvPr/>
        </p:nvSpPr>
        <p:spPr>
          <a:xfrm>
            <a:off x="695400" y="3582308"/>
            <a:ext cx="8697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두산 </a:t>
            </a:r>
            <a:r>
              <a:rPr lang="ko-KR" altLang="en-US" sz="3200" b="1" dirty="0" err="1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에너빌리티</a:t>
            </a:r>
            <a:r>
              <a:rPr lang="ko-KR" altLang="en-US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 </a:t>
            </a:r>
            <a:r>
              <a:rPr lang="en-US" altLang="ko-KR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AGV </a:t>
            </a:r>
            <a:r>
              <a:rPr lang="ko-KR" altLang="en-US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안전 기능 사양</a:t>
            </a:r>
            <a:endParaRPr lang="en-US" altLang="ko-KR" sz="3200" b="1" dirty="0">
              <a:solidFill>
                <a:prstClr val="white"/>
              </a:solidFill>
              <a:latin typeface="+mj-ea"/>
              <a:ea typeface="+mj-ea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9224" y="3140969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white"/>
                </a:solidFill>
                <a:latin typeface="Segoe UI"/>
                <a:ea typeface="맑은 고딕"/>
              </a:rPr>
              <a:t>2026. 4. 29.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DDD5724-FE7C-3C7C-5FA0-4E16553F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00" t="44750" r="14952" b="43700"/>
          <a:stretch>
            <a:fillRect/>
          </a:stretch>
        </p:blipFill>
        <p:spPr>
          <a:xfrm>
            <a:off x="788432" y="5733256"/>
            <a:ext cx="2160000" cy="35463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0DE6654-2606-7396-0591-8F98CAB23827}"/>
              </a:ext>
            </a:extLst>
          </p:cNvPr>
          <p:cNvSpPr txBox="1">
            <a:spLocks/>
          </p:cNvSpPr>
          <p:nvPr/>
        </p:nvSpPr>
        <p:spPr>
          <a:xfrm>
            <a:off x="11760000" y="6434042"/>
            <a:ext cx="432000" cy="216000"/>
          </a:xfrm>
          <a:prstGeom prst="rect">
            <a:avLst/>
          </a:prstGeom>
        </p:spPr>
        <p:txBody>
          <a:bodyPr vert="horz" lIns="91440" tIns="0" rIns="9144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E4EEA4-0C6F-46BA-9EC1-8BEC41C2986C}" type="slidenum">
              <a:rPr kumimoji="0" lang="ko-KR" altLang="en-US" sz="900" b="0" i="1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9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78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A40E-ED16-1709-FC82-DFD3E183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B190856-5CD4-6ACD-AA4F-C5391F6C933A}"/>
              </a:ext>
            </a:extLst>
          </p:cNvPr>
          <p:cNvGrpSpPr/>
          <p:nvPr/>
        </p:nvGrpSpPr>
        <p:grpSpPr>
          <a:xfrm>
            <a:off x="801337" y="2005004"/>
            <a:ext cx="4715059" cy="1967370"/>
            <a:chOff x="1851886" y="5448404"/>
            <a:chExt cx="4580816" cy="144223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11A9122-9826-8EE9-2938-145FE72D51A9}"/>
                </a:ext>
              </a:extLst>
            </p:cNvPr>
            <p:cNvSpPr/>
            <p:nvPr/>
          </p:nvSpPr>
          <p:spPr>
            <a:xfrm>
              <a:off x="6081587" y="5668094"/>
              <a:ext cx="351115" cy="1008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순서도: 수동 연산 51">
              <a:extLst>
                <a:ext uri="{FF2B5EF4-FFF2-40B4-BE49-F238E27FC236}">
                  <a16:creationId xmlns:a16="http://schemas.microsoft.com/office/drawing/2014/main" id="{D69A37A6-DD75-3309-5247-6F42726CC862}"/>
                </a:ext>
              </a:extLst>
            </p:cNvPr>
            <p:cNvSpPr/>
            <p:nvPr/>
          </p:nvSpPr>
          <p:spPr>
            <a:xfrm rot="16200000">
              <a:off x="2587317" y="5995005"/>
              <a:ext cx="1440160" cy="351114"/>
            </a:xfrm>
            <a:prstGeom prst="flowChartManualOperation">
              <a:avLst/>
            </a:prstGeom>
            <a:solidFill>
              <a:schemeClr val="accent4">
                <a:lumMod val="60000"/>
                <a:lumOff val="40000"/>
                <a:alpha val="67000"/>
              </a:schemeClr>
            </a:solidFill>
            <a:ln w="3175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7EB79EE-7620-9E31-3285-C17B053CF0F0}"/>
                </a:ext>
              </a:extLst>
            </p:cNvPr>
            <p:cNvSpPr/>
            <p:nvPr/>
          </p:nvSpPr>
          <p:spPr>
            <a:xfrm>
              <a:off x="2658963" y="5448404"/>
              <a:ext cx="468538" cy="143975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66000"/>
              </a:schemeClr>
            </a:solidFill>
            <a:ln w="3175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CE7967E-5045-454B-CF7D-F701D4520A75}"/>
                </a:ext>
              </a:extLst>
            </p:cNvPr>
            <p:cNvSpPr txBox="1"/>
            <p:nvPr/>
          </p:nvSpPr>
          <p:spPr>
            <a:xfrm>
              <a:off x="2616057" y="6048244"/>
              <a:ext cx="515783" cy="170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000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4">
                      <a:lumMod val="75000"/>
                    </a:schemeClr>
                  </a:solidFill>
                  <a:latin typeface="+mj-ea"/>
                  <a:ea typeface="+mj-ea"/>
                  <a:cs typeface="Arial Unicode MS" pitchFamily="50" charset="-127"/>
                </a:rPr>
                <a:t>감속</a:t>
              </a:r>
              <a:endParaRPr lang="en-US" altLang="ko-KR" sz="700" b="1" dirty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  <a:cs typeface="Arial Unicode MS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AB258D1-BFD2-7D18-8C5E-46F35E6BD23C}"/>
                </a:ext>
              </a:extLst>
            </p:cNvPr>
            <p:cNvSpPr/>
            <p:nvPr/>
          </p:nvSpPr>
          <p:spPr>
            <a:xfrm>
              <a:off x="1851886" y="5448895"/>
              <a:ext cx="811416" cy="143975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8000"/>
              </a:schemeClr>
            </a:solidFill>
            <a:ln w="3175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0D5972-BA84-4617-5BB9-EDD05B42D48C}"/>
                </a:ext>
              </a:extLst>
            </p:cNvPr>
            <p:cNvSpPr txBox="1"/>
            <p:nvPr/>
          </p:nvSpPr>
          <p:spPr>
            <a:xfrm>
              <a:off x="2051720" y="6045064"/>
              <a:ext cx="515783" cy="170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000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2">
                      <a:lumMod val="75000"/>
                    </a:schemeClr>
                  </a:solidFill>
                  <a:latin typeface="+mj-ea"/>
                  <a:ea typeface="+mj-ea"/>
                  <a:cs typeface="Arial Unicode MS" pitchFamily="50" charset="-127"/>
                </a:rPr>
                <a:t>알림</a:t>
              </a:r>
              <a:r>
                <a:rPr lang="ko-KR" altLang="en-US" sz="700" dirty="0">
                  <a:solidFill>
                    <a:schemeClr val="accent2">
                      <a:lumMod val="75000"/>
                    </a:schemeClr>
                  </a:solidFill>
                  <a:latin typeface="+mj-ea"/>
                  <a:ea typeface="+mj-ea"/>
                  <a:cs typeface="Arial Unicode MS" pitchFamily="50" charset="-127"/>
                </a:rPr>
                <a:t> </a:t>
              </a:r>
              <a:endParaRPr lang="en-US" altLang="ko-KR" sz="7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  <a:cs typeface="Arial Unicode MS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3F35059-D1A5-A587-1EC3-74E8C0527DE4}"/>
                </a:ext>
              </a:extLst>
            </p:cNvPr>
            <p:cNvSpPr txBox="1"/>
            <p:nvPr/>
          </p:nvSpPr>
          <p:spPr>
            <a:xfrm>
              <a:off x="3048105" y="6047552"/>
              <a:ext cx="515783" cy="233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000">
                <a:lnSpc>
                  <a:spcPct val="150000"/>
                </a:lnSpc>
              </a:pPr>
              <a:r>
                <a:rPr lang="ko-KR" altLang="en-US" sz="700" b="1" dirty="0">
                  <a:solidFill>
                    <a:srgbClr val="FF0000"/>
                  </a:solidFill>
                  <a:latin typeface="+mj-ea"/>
                  <a:ea typeface="+mj-ea"/>
                  <a:cs typeface="Arial Unicode MS" pitchFamily="50" charset="-127"/>
                </a:rPr>
                <a:t>정지</a:t>
              </a:r>
              <a:endParaRPr lang="en-US" altLang="ko-KR" sz="700" b="1" dirty="0">
                <a:solidFill>
                  <a:srgbClr val="FF0000"/>
                </a:solidFill>
                <a:latin typeface="+mj-ea"/>
                <a:ea typeface="+mj-ea"/>
                <a:cs typeface="Arial Unicode MS" pitchFamily="50" charset="-127"/>
              </a:endParaRPr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E7F57555-2813-FE08-A38D-7493968F32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449" y="2711828"/>
            <a:ext cx="2009636" cy="229530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12585BD-B307-83F4-C22A-34A9A46E9616}"/>
              </a:ext>
            </a:extLst>
          </p:cNvPr>
          <p:cNvSpPr txBox="1"/>
          <p:nvPr/>
        </p:nvSpPr>
        <p:spPr>
          <a:xfrm>
            <a:off x="2673044" y="4077699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AGV TOP VIEW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37F3E7DE-9FED-9C5A-6A1D-324C3C3E9343}"/>
              </a:ext>
            </a:extLst>
          </p:cNvPr>
          <p:cNvSpPr/>
          <p:nvPr/>
        </p:nvSpPr>
        <p:spPr>
          <a:xfrm rot="10800000">
            <a:off x="3158868" y="1804514"/>
            <a:ext cx="534640" cy="2004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B28568-4617-BD04-B97C-9766F2DE9BA8}"/>
              </a:ext>
            </a:extLst>
          </p:cNvPr>
          <p:cNvSpPr txBox="1"/>
          <p:nvPr/>
        </p:nvSpPr>
        <p:spPr>
          <a:xfrm>
            <a:off x="3141095" y="1641733"/>
            <a:ext cx="6592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tx2">
                    <a:lumMod val="75000"/>
                  </a:schemeClr>
                </a:solidFill>
              </a:rPr>
              <a:t>주행 방향</a:t>
            </a:r>
          </a:p>
        </p:txBody>
      </p:sp>
      <p:sp>
        <p:nvSpPr>
          <p:cNvPr id="64" name="AutoShape 52">
            <a:extLst>
              <a:ext uri="{FF2B5EF4-FFF2-40B4-BE49-F238E27FC236}">
                <a16:creationId xmlns:a16="http://schemas.microsoft.com/office/drawing/2014/main" id="{6A36E856-077E-246A-8D92-E62CA83F6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1102" y="5192983"/>
            <a:ext cx="1433886" cy="210469"/>
          </a:xfrm>
          <a:prstGeom prst="roundRect">
            <a:avLst>
              <a:gd name="adj" fmla="val 16667"/>
            </a:avLst>
          </a:prstGeom>
          <a:solidFill>
            <a:srgbClr val="61A00E"/>
          </a:solidFill>
          <a:ln w="9525" cap="flat" cmpd="sng" algn="ctr">
            <a:noFill/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Laser scanner</a:t>
            </a:r>
            <a:r>
              <a:rPr lang="ko-KR" altLang="en-US" sz="10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 센서</a:t>
            </a:r>
            <a:endParaRPr lang="en-US" altLang="ko-KR" sz="1000" b="1" kern="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E69C43-CD87-B8A5-532F-DF8A263D9B08}"/>
              </a:ext>
            </a:extLst>
          </p:cNvPr>
          <p:cNvSpPr txBox="1"/>
          <p:nvPr/>
        </p:nvSpPr>
        <p:spPr>
          <a:xfrm>
            <a:off x="604731" y="4460486"/>
            <a:ext cx="5400600" cy="96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최대 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40m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거리까지 장애물을 감지할 수 있는 레이저 센서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지정된 영역 내에서 장애물과 사람을 효과적으로 탐지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감속 및 정지 구간을 세분화하여 주변 장애물이나 사람과의 충돌을 사전에 방지할 수 있음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C2EEC6-3085-C8A2-56F7-AD66949EC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248" y="1300162"/>
            <a:ext cx="1334983" cy="111293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17546A-2868-CF12-0007-C5DE8F4C5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60806" flipH="1">
            <a:off x="2573798" y="2381162"/>
            <a:ext cx="2052923" cy="1320378"/>
          </a:xfrm>
          <a:prstGeom prst="rect">
            <a:avLst/>
          </a:prstGeom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F99216-F457-654F-2812-6ED23C59B6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426"/>
          <a:stretch>
            <a:fillRect/>
          </a:stretch>
        </p:blipFill>
        <p:spPr>
          <a:xfrm>
            <a:off x="7685841" y="4361745"/>
            <a:ext cx="3879538" cy="194334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77AACA1-90E9-025F-1474-05059BFE26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7360"/>
          <a:stretch>
            <a:fillRect/>
          </a:stretch>
        </p:blipFill>
        <p:spPr>
          <a:xfrm>
            <a:off x="7691851" y="2570642"/>
            <a:ext cx="3879538" cy="18583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7A50518-3660-5C90-D377-E0334340063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5822"/>
          <a:stretch>
            <a:fillRect/>
          </a:stretch>
        </p:blipFill>
        <p:spPr>
          <a:xfrm>
            <a:off x="7707732" y="719015"/>
            <a:ext cx="3863657" cy="18753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AE4101-38FD-2F07-7E59-AAB8CB2FBD92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센서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18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6DC5-A34B-6D15-B011-718F00137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F04FC9F-3152-4E7B-9834-7DB348F2F0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42152"/>
            <a:ext cx="4503232" cy="2671286"/>
          </a:xfrm>
          <a:prstGeom prst="rect">
            <a:avLst/>
          </a:prstGeom>
        </p:spPr>
      </p:pic>
      <p:sp>
        <p:nvSpPr>
          <p:cNvPr id="3" name="AutoShape 52">
            <a:extLst>
              <a:ext uri="{FF2B5EF4-FFF2-40B4-BE49-F238E27FC236}">
                <a16:creationId xmlns:a16="http://schemas.microsoft.com/office/drawing/2014/main" id="{861C1258-0402-C05F-8452-A1B7F8DF8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706" y="4370967"/>
            <a:ext cx="1080956" cy="175054"/>
          </a:xfrm>
          <a:prstGeom prst="roundRect">
            <a:avLst>
              <a:gd name="adj" fmla="val 16667"/>
            </a:avLst>
          </a:prstGeom>
          <a:solidFill>
            <a:srgbClr val="61A00E"/>
          </a:solidFill>
          <a:ln w="9525" cap="flat" cmpd="sng" algn="ctr">
            <a:noFill/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범퍼 센서</a:t>
            </a:r>
            <a:endParaRPr lang="en-US" altLang="ko-KR" sz="1000" b="1" kern="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4" name="그림 3" descr="공학, 산업, 건물, 스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3141106-294B-5C36-DC69-DB2EB72FA5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3" t="21222" b="7815"/>
          <a:stretch/>
        </p:blipFill>
        <p:spPr bwMode="auto">
          <a:xfrm>
            <a:off x="6508182" y="1543231"/>
            <a:ext cx="3966677" cy="266912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AutoShape 52">
            <a:extLst>
              <a:ext uri="{FF2B5EF4-FFF2-40B4-BE49-F238E27FC236}">
                <a16:creationId xmlns:a16="http://schemas.microsoft.com/office/drawing/2014/main" id="{09DEA8F9-EAE5-FECE-9933-DFB83328C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827" y="4370967"/>
            <a:ext cx="1080956" cy="175054"/>
          </a:xfrm>
          <a:prstGeom prst="roundRect">
            <a:avLst>
              <a:gd name="adj" fmla="val 16667"/>
            </a:avLst>
          </a:prstGeom>
          <a:solidFill>
            <a:srgbClr val="61A00E"/>
          </a:solidFill>
          <a:ln w="9525" cap="flat" cmpd="sng" algn="ctr">
            <a:noFill/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안전빔</a:t>
            </a:r>
            <a:endParaRPr lang="en-US" altLang="ko-KR" sz="1000" b="1" kern="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A8491A-D331-D455-8ACD-D481267F98E8}"/>
              </a:ext>
            </a:extLst>
          </p:cNvPr>
          <p:cNvSpPr txBox="1"/>
          <p:nvPr/>
        </p:nvSpPr>
        <p:spPr>
          <a:xfrm>
            <a:off x="432000" y="4851723"/>
            <a:ext cx="7847432" cy="96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스폰지 재질의 물리적 범퍼를 적용하여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사람이나 물체와 접촉 시 즉시 정지함으로써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안전사고를 사전에 예방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접촉 발생 시 경보음과 함께 비상 정지가 자동으로 작동되어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신속한 대응이 가능하도록 설계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주행 시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0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안전빔을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투사하여 주변 사람이나 장비에 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AGV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이동 경로를 시각적으로 알림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812F3-F88B-D2DE-1923-39F621A68F7D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센서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221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E59C3-69F6-9924-A810-5F70A7D4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BEC85F62-B309-D9AA-8203-937C061B6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008" y="304367"/>
            <a:ext cx="6350216" cy="4489506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C02027-E53E-55E0-B448-966672BEB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299844"/>
              </p:ext>
            </p:extLst>
          </p:nvPr>
        </p:nvGraphicFramePr>
        <p:xfrm>
          <a:off x="941571" y="4261430"/>
          <a:ext cx="10697535" cy="198850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2363410">
                  <a:extLst>
                    <a:ext uri="{9D8B030D-6E8A-4147-A177-3AD203B41FA5}">
                      <a16:colId xmlns:a16="http://schemas.microsoft.com/office/drawing/2014/main" val="493588183"/>
                    </a:ext>
                  </a:extLst>
                </a:gridCol>
                <a:gridCol w="1855354">
                  <a:extLst>
                    <a:ext uri="{9D8B030D-6E8A-4147-A177-3AD203B41FA5}">
                      <a16:colId xmlns:a16="http://schemas.microsoft.com/office/drawing/2014/main" val="2547605107"/>
                    </a:ext>
                  </a:extLst>
                </a:gridCol>
                <a:gridCol w="6478771">
                  <a:extLst>
                    <a:ext uri="{9D8B030D-6E8A-4147-A177-3AD203B41FA5}">
                      <a16:colId xmlns:a16="http://schemas.microsoft.com/office/drawing/2014/main" val="3293599029"/>
                    </a:ext>
                  </a:extLst>
                </a:gridCol>
              </a:tblGrid>
              <a:tr h="4594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보호 영역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Stop Field</a:t>
                      </a:r>
                      <a:endParaRPr lang="ko-KR" altLang="en-US" sz="16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즉시 정지 가능범위 이며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즉시 비상정지를 시행합니다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69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경고 영역</a:t>
                      </a: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anchor="ctr"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Warning Field</a:t>
                      </a:r>
                      <a:endParaRPr lang="ko-KR" altLang="en-US" sz="16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보호 영역 직전에 위치하며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진입 시 속도를 안전속도 이하로 줄입니다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36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경고 영역</a:t>
                      </a: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anchor="ctr"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Alarm Field</a:t>
                      </a:r>
                      <a:endParaRPr lang="ko-KR" altLang="en-US" sz="16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로봇의 정지기능에는 관여하지 않고 시청각 경고를 하여 작업자에 주의를 환기합니다</a:t>
                      </a:r>
                      <a:endParaRPr lang="en-US" altLang="ko-KR" sz="1600" dirty="0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6946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7D302DD-B3F2-8FD9-01CD-B1495124FFFD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안전 범위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176EB40-BCAE-47B5-42F0-C6D62CCE6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9082" y="2050738"/>
            <a:ext cx="1334983" cy="1112937"/>
          </a:xfrm>
          <a:prstGeom prst="rect">
            <a:avLst/>
          </a:prstGeom>
          <a:ln w="28575">
            <a:solidFill>
              <a:schemeClr val="accent2"/>
            </a:solidFill>
          </a:ln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8288E83-6215-84D8-2ABD-A803A1CEF686}"/>
              </a:ext>
            </a:extLst>
          </p:cNvPr>
          <p:cNvCxnSpPr>
            <a:cxnSpLocks/>
          </p:cNvCxnSpPr>
          <p:nvPr/>
        </p:nvCxnSpPr>
        <p:spPr>
          <a:xfrm rot="10800000">
            <a:off x="5536020" y="2050738"/>
            <a:ext cx="4123063" cy="805508"/>
          </a:xfrm>
          <a:prstGeom prst="bentConnector3">
            <a:avLst>
              <a:gd name="adj1" fmla="val 27135"/>
            </a:avLst>
          </a:prstGeom>
          <a:ln>
            <a:tailEnd type="oval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422D76A-9F4F-AB7C-81B0-FC667FBCB2BF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>
            <a:off x="8042942" y="1332615"/>
            <a:ext cx="1616140" cy="1274593"/>
          </a:xfrm>
          <a:prstGeom prst="bentConnector3">
            <a:avLst>
              <a:gd name="adj1" fmla="val 50000"/>
            </a:avLst>
          </a:prstGeom>
          <a:ln>
            <a:tailEnd type="oval" w="lg" len="lg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662AFDA-7F44-CF6D-9BA2-B4D0AC010652}"/>
              </a:ext>
            </a:extLst>
          </p:cNvPr>
          <p:cNvSpPr txBox="1"/>
          <p:nvPr/>
        </p:nvSpPr>
        <p:spPr>
          <a:xfrm>
            <a:off x="9309536" y="3171442"/>
            <a:ext cx="2034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안전 스캐너 사용</a:t>
            </a:r>
          </a:p>
        </p:txBody>
      </p:sp>
    </p:spTree>
    <p:extLst>
      <p:ext uri="{BB962C8B-B14F-4D97-AF65-F5344CB8AC3E}">
        <p14:creationId xmlns:p14="http://schemas.microsoft.com/office/powerpoint/2010/main" val="304956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337A1-8D71-29A6-D216-6060A9646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71F2E8-E770-C053-24A5-6CB17863EFBB}"/>
              </a:ext>
            </a:extLst>
          </p:cNvPr>
          <p:cNvSpPr txBox="1"/>
          <p:nvPr/>
        </p:nvSpPr>
        <p:spPr>
          <a:xfrm>
            <a:off x="509182" y="6005201"/>
            <a:ext cx="103702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STO : </a:t>
            </a:r>
            <a:r>
              <a:rPr lang="ko-KR" altLang="en-US" sz="1400" dirty="0"/>
              <a:t>모터의 출력자체를 차단함으로 위험 상황에서 </a:t>
            </a:r>
            <a:r>
              <a:rPr lang="en-US" altLang="ko-KR" sz="1400" dirty="0"/>
              <a:t>AGV</a:t>
            </a:r>
            <a:r>
              <a:rPr lang="ko-KR" altLang="en-US" sz="1400" dirty="0"/>
              <a:t>을 안정적으로 정지시키는 기능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A3564E7-ACE5-5FB9-5635-20A280623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133" y="908085"/>
            <a:ext cx="8193734" cy="50418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5983965-F54C-D583-A5B3-4D5AE4F6EE68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STO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정지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C7ED00-6537-EC1B-6565-042061AAB675}"/>
              </a:ext>
            </a:extLst>
          </p:cNvPr>
          <p:cNvSpPr txBox="1"/>
          <p:nvPr/>
        </p:nvSpPr>
        <p:spPr>
          <a:xfrm>
            <a:off x="7995471" y="628318"/>
            <a:ext cx="1829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Safety plc </a:t>
            </a:r>
            <a:r>
              <a:rPr lang="ko-KR" altLang="en-US" dirty="0"/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139411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8123C-1E13-4A8B-4747-6E0AED14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23C99B0-BFBF-B364-F53B-C5AAEDB47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4733" y="248716"/>
            <a:ext cx="8429775" cy="6315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AD3344-7A07-2044-2BCE-012E914EA0D6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휠 속도 감지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0CFA46-9AB0-9D99-522E-5C3955D2D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953" y="4495217"/>
            <a:ext cx="1048362" cy="8865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058A45-B2A8-4212-7257-E7BF17A3FEDC}"/>
              </a:ext>
            </a:extLst>
          </p:cNvPr>
          <p:cNvSpPr txBox="1"/>
          <p:nvPr/>
        </p:nvSpPr>
        <p:spPr>
          <a:xfrm>
            <a:off x="800986" y="507350"/>
            <a:ext cx="8711609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휠 </a:t>
            </a:r>
            <a:r>
              <a:rPr lang="ko-KR" altLang="en-US" sz="1400" dirty="0" err="1"/>
              <a:t>엔코더를</a:t>
            </a:r>
            <a:r>
              <a:rPr lang="ko-KR" altLang="en-US" sz="1400" dirty="0"/>
              <a:t> 설치하여 바퀴의 회전을 실시간으로 감시합니다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7384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8127-E20B-0BC9-9185-0B55D902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3E2DD1-C01F-7D85-9FE2-CC857816D05D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휠 속도 감지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F77312-D5CF-745E-3014-9E6186F2F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542"/>
          <a:stretch>
            <a:fillRect/>
          </a:stretch>
        </p:blipFill>
        <p:spPr>
          <a:xfrm>
            <a:off x="826443" y="1138772"/>
            <a:ext cx="10539113" cy="47788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575354-F6AE-E42D-82AF-35C804473F3E}"/>
              </a:ext>
            </a:extLst>
          </p:cNvPr>
          <p:cNvSpPr txBox="1"/>
          <p:nvPr/>
        </p:nvSpPr>
        <p:spPr>
          <a:xfrm>
            <a:off x="800986" y="507350"/>
            <a:ext cx="8711609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다음 상태가 감지되면 </a:t>
            </a:r>
            <a:r>
              <a:rPr lang="en-US" altLang="ko-KR" sz="1400" dirty="0"/>
              <a:t>AGV</a:t>
            </a:r>
            <a:r>
              <a:rPr lang="ko-KR" altLang="en-US" sz="1400" dirty="0"/>
              <a:t> 는 즉시 안전정지를 시행합니다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91501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BAB83-E3F1-A6DD-3A85-C1F4647F8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1992C9-EBED-657E-CEA2-536F994CC2F5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원격 비상정지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E2D1E-50B8-DD0A-00B7-504793750AED}"/>
              </a:ext>
            </a:extLst>
          </p:cNvPr>
          <p:cNvSpPr txBox="1"/>
          <p:nvPr/>
        </p:nvSpPr>
        <p:spPr>
          <a:xfrm>
            <a:off x="800986" y="507350"/>
            <a:ext cx="9736385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비상 정지 버튼을 누르면 무선 통신을 통해 모든 </a:t>
            </a:r>
            <a:r>
              <a:rPr lang="en-US" altLang="ko-KR" sz="1400" dirty="0"/>
              <a:t>AGV</a:t>
            </a:r>
            <a:r>
              <a:rPr lang="ko-KR" altLang="en-US" sz="1400" dirty="0"/>
              <a:t>에 비상정지 신호가 전송되어 즉시 안전 정지를 수행합니다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CAD951-CD5C-ACF1-84B0-CC4E284DCD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8"/>
          <a:stretch>
            <a:fillRect/>
          </a:stretch>
        </p:blipFill>
        <p:spPr>
          <a:xfrm>
            <a:off x="1197436" y="1091610"/>
            <a:ext cx="9797128" cy="515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3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FF457-74C3-80CC-D02A-2BC7FC74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C44EC2-4372-E03E-B3C0-052A5DD3EA9C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배터리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8266481-1644-B6C7-F69C-90C256A47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688105"/>
              </p:ext>
            </p:extLst>
          </p:nvPr>
        </p:nvGraphicFramePr>
        <p:xfrm>
          <a:off x="5680112" y="709164"/>
          <a:ext cx="5115478" cy="5014697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421992">
                  <a:extLst>
                    <a:ext uri="{9D8B030D-6E8A-4147-A177-3AD203B41FA5}">
                      <a16:colId xmlns:a16="http://schemas.microsoft.com/office/drawing/2014/main" val="3520180841"/>
                    </a:ext>
                  </a:extLst>
                </a:gridCol>
                <a:gridCol w="3693486">
                  <a:extLst>
                    <a:ext uri="{9D8B030D-6E8A-4147-A177-3AD203B41FA5}">
                      <a16:colId xmlns:a16="http://schemas.microsoft.com/office/drawing/2014/main" val="704448158"/>
                    </a:ext>
                  </a:extLst>
                </a:gridCol>
              </a:tblGrid>
              <a:tr h="409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전지 형식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16S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리튬인산철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436997"/>
                  </a:ext>
                </a:extLst>
              </a:tr>
              <a:tr h="411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공칭 전압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51.2V(44.8 ~ 58.4V)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1029597"/>
                  </a:ext>
                </a:extLst>
              </a:tr>
              <a:tr h="4536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공칭 용량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150Ah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521496"/>
                  </a:ext>
                </a:extLst>
              </a:tr>
              <a:tr h="3685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에너지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7.6KWh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907416"/>
                  </a:ext>
                </a:extLst>
              </a:tr>
              <a:tr h="3969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정격 전류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75A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723776"/>
                  </a:ext>
                </a:extLst>
              </a:tr>
              <a:tr h="460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최대 출력 전류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225A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9537188"/>
                  </a:ext>
                </a:extLst>
              </a:tr>
              <a:tr h="411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온도 범위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 ~ 45℃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157871"/>
                  </a:ext>
                </a:extLst>
              </a:tr>
              <a:tr h="21027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BMS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600" u="none" strike="noStrike" dirty="0">
                          <a:effectLst/>
                        </a:rPr>
                        <a:t>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복귀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en-US" altLang="ko-KR" sz="1400" u="none" strike="noStrike" dirty="0">
                          <a:effectLst/>
                        </a:rPr>
                        <a:t>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복귀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과전류 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단락보호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고온 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셀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밸런싱</a:t>
                      </a:r>
                      <a:endParaRPr lang="ko-KR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00233423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A424D9B6-AF7D-80A8-AA23-DEBC36C5E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13" y="1744273"/>
            <a:ext cx="4712862" cy="3678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73CC64-6EA6-830B-26F9-56525DA1E915}"/>
              </a:ext>
            </a:extLst>
          </p:cNvPr>
          <p:cNvSpPr txBox="1"/>
          <p:nvPr/>
        </p:nvSpPr>
        <p:spPr>
          <a:xfrm>
            <a:off x="574158" y="6025117"/>
            <a:ext cx="9023497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/>
              <a:t>※ </a:t>
            </a:r>
            <a:r>
              <a:rPr lang="ko-KR" altLang="en-US" sz="1400" dirty="0"/>
              <a:t>외부에 노출된 전원차단 스위치를 통해 즉시 배터리의 출력을 차단할 수 있습니다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9F880-85F8-9745-D894-BDFBB94AB596}"/>
              </a:ext>
            </a:extLst>
          </p:cNvPr>
          <p:cNvSpPr txBox="1"/>
          <p:nvPr/>
        </p:nvSpPr>
        <p:spPr>
          <a:xfrm>
            <a:off x="800986" y="507350"/>
            <a:ext cx="8711609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배터리의 </a:t>
            </a:r>
            <a:r>
              <a:rPr lang="en-US" altLang="ko-KR" sz="1400" dirty="0"/>
              <a:t>BMS</a:t>
            </a:r>
            <a:r>
              <a:rPr lang="ko-KR" altLang="en-US" sz="1400" dirty="0"/>
              <a:t>는 안전 사양을 충족합니다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2216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C8F58-278A-6D1D-B437-A48E08B9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10D822-6818-94FF-520F-03BF77476839}"/>
              </a:ext>
            </a:extLst>
          </p:cNvPr>
          <p:cNvSpPr txBox="1"/>
          <p:nvPr/>
        </p:nvSpPr>
        <p:spPr>
          <a:xfrm>
            <a:off x="300774" y="136029"/>
            <a:ext cx="4511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충전 </a:t>
            </a:r>
            <a:r>
              <a:rPr lang="ko-KR" altLang="en-US" sz="2400" b="1">
                <a:solidFill>
                  <a:schemeClr val="tx1">
                    <a:lumMod val="85000"/>
                    <a:lumOff val="15000"/>
                  </a:schemeClr>
                </a:solidFill>
              </a:rPr>
              <a:t>커넥터 안전 요구 사항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B9B12A-DE87-442E-5EC9-C9CB78E3C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83"/>
          <a:stretch>
            <a:fillRect/>
          </a:stretch>
        </p:blipFill>
        <p:spPr>
          <a:xfrm>
            <a:off x="1788778" y="716002"/>
            <a:ext cx="8614444" cy="571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3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9BAD6C-04BB-DADE-A7A0-32879EC9FF51}"/>
              </a:ext>
            </a:extLst>
          </p:cNvPr>
          <p:cNvSpPr/>
          <p:nvPr/>
        </p:nvSpPr>
        <p:spPr>
          <a:xfrm>
            <a:off x="824113" y="3278634"/>
            <a:ext cx="8697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prstClr val="white"/>
                </a:solidFill>
                <a:latin typeface="Verdana"/>
                <a:ea typeface="Tahoma" panose="020B0604030504040204" pitchFamily="34" charset="0"/>
                <a:cs typeface="Tahoma" panose="020B060403050404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723857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318</Words>
  <Application>Microsoft Office PowerPoint</Application>
  <PresentationFormat>와이드스크린</PresentationFormat>
  <Paragraphs>72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맑은 고딕 Semilight</vt:lpstr>
      <vt:lpstr>Arial</vt:lpstr>
      <vt:lpstr>Segoe UI</vt:lpstr>
      <vt:lpstr>Verdana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태영 박</dc:creator>
  <cp:lastModifiedBy>태영 박</cp:lastModifiedBy>
  <cp:revision>4</cp:revision>
  <dcterms:created xsi:type="dcterms:W3CDTF">2026-05-18T01:57:54Z</dcterms:created>
  <dcterms:modified xsi:type="dcterms:W3CDTF">2026-05-19T07:56:45Z</dcterms:modified>
</cp:coreProperties>
</file>