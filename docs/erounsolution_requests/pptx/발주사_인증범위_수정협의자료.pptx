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63" r:id="rId6"/>
    <p:sldId id="265" r:id="rId7"/>
    <p:sldId id="259" r:id="rId8"/>
    <p:sldId id="260" r:id="rId9"/>
    <p:sldId id="264" r:id="rId10"/>
  </p:sldIdLst>
  <p:sldSz cx="12192000" cy="6858000"/>
  <p:notesSz cx="6807200" cy="9939338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B6291-7CB0-5946-F832-78B7317DD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1E1FD-BF4D-E0E1-D456-B4CE94B73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9583E7-A427-0665-69CC-A71DDCB8D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EC42A-4CA2-03E0-24AC-6A6AD3F99A5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1126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ECD6B-2C62-16BD-BFC2-349BA4A39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2E08F-EDF1-6C6B-8935-3DB803C95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575F3-5BB2-52FC-4888-2AC7D18E1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D956E-AD79-DEB8-0512-3AD3A41E265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0927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A6CFF-A0D6-2916-5733-77CC5F1AE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A272C-D6DD-A4CA-9085-A948D5F31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3C5540-000B-F5EF-7FFF-737DB68E5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3476D-F6CC-EB7C-C791-7BFDDCA7D8F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6636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A905C-8FE1-E544-049E-5B1D291D4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A1D79-61F3-4B98-43FD-48A82D86E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2C031-0E17-0759-9559-A69C484C7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75D68-3266-0BFD-081C-B413E3089CA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392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ver-title">
            <a:extLst>
              <a:ext uri="{FF2B5EF4-FFF2-40B4-BE49-F238E27FC236}">
                <a16:creationId xmlns:a16="http://schemas.microsoft.com/office/drawing/2014/main" id="{FAE19249-ADE7-4C49-81F7-65B8377BA17E}"/>
              </a:ext>
            </a:extLst>
          </p:cNvPr>
          <p:cNvSpPr>
            <a:spLocks noGrp="1"/>
          </p:cNvSpPr>
          <p:nvPr/>
        </p:nvSpPr>
        <p:spPr>
          <a:xfrm>
            <a:off x="590549" y="897677"/>
            <a:ext cx="6456796" cy="13190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73A6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600" b="1" dirty="0">
                <a:solidFill>
                  <a:srgbClr val="173A63"/>
                </a:solidFill>
                <a:latin typeface="Malgun Gothic"/>
                <a:ea typeface="Malgun Gothic"/>
                <a:cs typeface="Malgun Gothic"/>
              </a:rPr>
              <a:t>안전인증 관련 </a:t>
            </a:r>
            <a:r>
              <a:rPr sz="3600" b="1" dirty="0" err="1">
                <a:solidFill>
                  <a:srgbClr val="173A63"/>
                </a:solidFill>
                <a:latin typeface="Malgun Gothic"/>
                <a:ea typeface="Malgun Gothic"/>
                <a:cs typeface="Malgun Gothic"/>
              </a:rPr>
              <a:t>발주</a:t>
            </a:r>
            <a:r>
              <a:rPr sz="3600" b="1" dirty="0">
                <a:solidFill>
                  <a:srgbClr val="173A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600" b="1" dirty="0" err="1">
                <a:solidFill>
                  <a:srgbClr val="173A63"/>
                </a:solidFill>
                <a:latin typeface="Malgun Gothic"/>
                <a:ea typeface="Malgun Gothic"/>
                <a:cs typeface="Malgun Gothic"/>
              </a:rPr>
              <a:t>사양</a:t>
            </a:r>
            <a:r>
              <a:rPr sz="3600" b="1" dirty="0">
                <a:solidFill>
                  <a:srgbClr val="173A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3600" b="1" dirty="0">
                <a:solidFill>
                  <a:srgbClr val="173A63"/>
                </a:solidFill>
                <a:latin typeface="Malgun Gothic"/>
                <a:ea typeface="Malgun Gothic"/>
                <a:cs typeface="Malgun Gothic"/>
              </a:rPr>
              <a:t>조정 </a:t>
            </a:r>
            <a:endParaRPr lang="en-US" altLang="ko-KR" sz="3600" b="1" dirty="0">
              <a:solidFill>
                <a:srgbClr val="173A63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2550" b="1">
                <a:solidFill>
                  <a:srgbClr val="173A6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600" b="1" dirty="0">
                <a:solidFill>
                  <a:srgbClr val="173A63"/>
                </a:solidFill>
                <a:latin typeface="Malgun Gothic"/>
                <a:ea typeface="Malgun Gothic"/>
                <a:cs typeface="Malgun Gothic"/>
              </a:rPr>
              <a:t>협의 자료</a:t>
            </a:r>
            <a:endParaRPr sz="3600" b="1" dirty="0">
              <a:solidFill>
                <a:srgbClr val="173A6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cover-sub">
            <a:extLst>
              <a:ext uri="{FF2B5EF4-FFF2-40B4-BE49-F238E27FC236}">
                <a16:creationId xmlns:a16="http://schemas.microsoft.com/office/drawing/2014/main" id="{A763D34C-4053-4432-AA19-80F88220F344}"/>
              </a:ext>
            </a:extLst>
          </p:cNvPr>
          <p:cNvSpPr>
            <a:spLocks noGrp="1"/>
          </p:cNvSpPr>
          <p:nvPr/>
        </p:nvSpPr>
        <p:spPr>
          <a:xfrm>
            <a:off x="590549" y="2495550"/>
            <a:ext cx="7306541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이로운솔루션</a:t>
            </a:r>
            <a:r>
              <a:rPr sz="1425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로봇</a:t>
            </a:r>
            <a:r>
              <a:rPr sz="1425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시스템</a:t>
            </a:r>
            <a:r>
              <a:rPr sz="1425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구매사양서</a:t>
            </a:r>
            <a:r>
              <a:rPr sz="1425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기준</a:t>
            </a:r>
            <a:r>
              <a:rPr lang="en-US" sz="1425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1425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AMR </a:t>
            </a:r>
            <a:r>
              <a:rPr lang="ko-KR" altLang="en-US" sz="1425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운용 조건 정리 및 인증 범위 협의</a:t>
            </a:r>
          </a:p>
          <a:p>
            <a:pPr>
              <a:defRPr sz="1425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endParaRPr sz="1425" dirty="0">
              <a:solidFill>
                <a:srgbClr val="6B728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cover-sub2">
            <a:extLst>
              <a:ext uri="{FF2B5EF4-FFF2-40B4-BE49-F238E27FC236}">
                <a16:creationId xmlns:a16="http://schemas.microsoft.com/office/drawing/2014/main" id="{290B3419-380C-4F1B-B1D0-A126F98013D0}"/>
              </a:ext>
            </a:extLst>
          </p:cNvPr>
          <p:cNvSpPr>
            <a:spLocks noGrp="1"/>
          </p:cNvSpPr>
          <p:nvPr/>
        </p:nvSpPr>
        <p:spPr>
          <a:xfrm>
            <a:off x="590550" y="27432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endParaRPr sz="1425" dirty="0">
              <a:solidFill>
                <a:srgbClr val="6B728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summary-card">
            <a:extLst>
              <a:ext uri="{FF2B5EF4-FFF2-40B4-BE49-F238E27FC236}">
                <a16:creationId xmlns:a16="http://schemas.microsoft.com/office/drawing/2014/main" id="{3BEC47F6-7164-4F85-9DBE-46FF7B650894}"/>
              </a:ext>
            </a:extLst>
          </p:cNvPr>
          <p:cNvSpPr>
            <a:spLocks noGrp="1"/>
          </p:cNvSpPr>
          <p:nvPr/>
        </p:nvSpPr>
        <p:spPr>
          <a:xfrm>
            <a:off x="590550" y="3352800"/>
            <a:ext cx="10613159" cy="1638300"/>
          </a:xfrm>
          <a:prstGeom prst="roundRect">
            <a:avLst>
              <a:gd name="adj" fmla="val 6977"/>
            </a:avLst>
          </a:prstGeom>
          <a:solidFill>
            <a:srgbClr val="F5F7FA"/>
          </a:solidFill>
          <a:ln w="9525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6474C567-585E-4076-8416-13068DC2F957}"/>
              </a:ext>
            </a:extLst>
          </p:cNvPr>
          <p:cNvSpPr>
            <a:spLocks noGrp="1"/>
          </p:cNvSpPr>
          <p:nvPr/>
        </p:nvSpPr>
        <p:spPr>
          <a:xfrm>
            <a:off x="876300" y="35623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7C7E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350" b="1" dirty="0">
                <a:solidFill>
                  <a:srgbClr val="117C7E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sz="1350" b="1" dirty="0">
              <a:solidFill>
                <a:srgbClr val="117C7E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" name="cover-body">
            <a:extLst>
              <a:ext uri="{FF2B5EF4-FFF2-40B4-BE49-F238E27FC236}">
                <a16:creationId xmlns:a16="http://schemas.microsoft.com/office/drawing/2014/main" id="{F736D44C-DA91-4866-BE18-B7AD41FA3A8C}"/>
              </a:ext>
            </a:extLst>
          </p:cNvPr>
          <p:cNvSpPr>
            <a:spLocks noGrp="1"/>
          </p:cNvSpPr>
          <p:nvPr/>
        </p:nvSpPr>
        <p:spPr>
          <a:xfrm>
            <a:off x="876299" y="3867150"/>
            <a:ext cx="10050319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50000"/>
              </a:lnSpc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dirty="0" err="1">
                <a:solidFill>
                  <a:srgbClr val="6B7280"/>
                </a:solidFill>
                <a:latin typeface="Malgun Gothic"/>
                <a:ea typeface="Malgun Gothic"/>
              </a:rPr>
              <a:t>AMR은</a:t>
            </a:r>
            <a:r>
              <a:rPr sz="140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sz="1400" dirty="0" err="1">
                <a:solidFill>
                  <a:srgbClr val="6B7280"/>
                </a:solidFill>
                <a:latin typeface="Malgun Gothic"/>
                <a:ea typeface="Malgun Gothic"/>
              </a:rPr>
              <a:t>외부에서는</a:t>
            </a:r>
            <a:r>
              <a:rPr sz="140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sz="1400" dirty="0" err="1">
                <a:solidFill>
                  <a:srgbClr val="6B7280"/>
                </a:solidFill>
                <a:latin typeface="Malgun Gothic"/>
                <a:ea typeface="Malgun Gothic"/>
              </a:rPr>
              <a:t>리모컨</a:t>
            </a:r>
            <a:r>
              <a:rPr sz="140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sz="1400" dirty="0" err="1">
                <a:solidFill>
                  <a:srgbClr val="6B7280"/>
                </a:solidFill>
                <a:latin typeface="Malgun Gothic"/>
                <a:ea typeface="Malgun Gothic"/>
              </a:rPr>
              <a:t>수동</a:t>
            </a:r>
            <a:r>
              <a:rPr sz="140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sz="1400" dirty="0" err="1">
                <a:solidFill>
                  <a:srgbClr val="6B7280"/>
                </a:solidFill>
                <a:latin typeface="Malgun Gothic"/>
                <a:ea typeface="Malgun Gothic"/>
              </a:rPr>
              <a:t>조작</a:t>
            </a:r>
            <a:r>
              <a:rPr sz="1400" dirty="0">
                <a:solidFill>
                  <a:srgbClr val="6B7280"/>
                </a:solidFill>
                <a:latin typeface="Malgun Gothic"/>
                <a:ea typeface="Malgun Gothic"/>
              </a:rPr>
              <a:t>, </a:t>
            </a:r>
            <a:r>
              <a:rPr sz="1400" dirty="0" err="1">
                <a:solidFill>
                  <a:srgbClr val="6B7280"/>
                </a:solidFill>
                <a:latin typeface="Malgun Gothic"/>
                <a:ea typeface="Malgun Gothic"/>
              </a:rPr>
              <a:t>내부</a:t>
            </a:r>
            <a:r>
              <a:rPr sz="1400" dirty="0">
                <a:solidFill>
                  <a:srgbClr val="6B7280"/>
                </a:solidFill>
                <a:latin typeface="Malgun Gothic"/>
                <a:ea typeface="Malgun Gothic"/>
              </a:rPr>
              <a:t> SMR </a:t>
            </a:r>
            <a:r>
              <a:rPr sz="1400" dirty="0" err="1">
                <a:solidFill>
                  <a:srgbClr val="6B7280"/>
                </a:solidFill>
                <a:latin typeface="Malgun Gothic"/>
                <a:ea typeface="Malgun Gothic"/>
              </a:rPr>
              <a:t>구간에서는</a:t>
            </a:r>
            <a:r>
              <a:rPr sz="140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sz="1400" dirty="0" err="1">
                <a:solidFill>
                  <a:srgbClr val="6B7280"/>
                </a:solidFill>
                <a:latin typeface="Malgun Gothic"/>
                <a:ea typeface="Malgun Gothic"/>
              </a:rPr>
              <a:t>제한된</a:t>
            </a:r>
            <a:r>
              <a:rPr sz="140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sz="1400" dirty="0" err="1">
                <a:solidFill>
                  <a:srgbClr val="6B7280"/>
                </a:solidFill>
                <a:latin typeface="Malgun Gothic"/>
                <a:ea typeface="Malgun Gothic"/>
              </a:rPr>
              <a:t>자동</a:t>
            </a:r>
            <a:r>
              <a:rPr sz="140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sz="1400" dirty="0" err="1">
                <a:solidFill>
                  <a:srgbClr val="6B7280"/>
                </a:solidFill>
                <a:latin typeface="Malgun Gothic"/>
                <a:ea typeface="Malgun Gothic"/>
              </a:rPr>
              <a:t>이동으로</a:t>
            </a:r>
            <a:r>
              <a:rPr sz="140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lang="ko-KR" altLang="en-US" sz="1400" dirty="0">
                <a:solidFill>
                  <a:srgbClr val="6B7280"/>
                </a:solidFill>
                <a:latin typeface="Malgun Gothic"/>
                <a:ea typeface="Malgun Gothic"/>
              </a:rPr>
              <a:t>운용 되어 안전 규제에 의한 </a:t>
            </a:r>
            <a:endParaRPr lang="en-US" altLang="ko-KR" sz="1400" dirty="0">
              <a:solidFill>
                <a:srgbClr val="6B7280"/>
              </a:solidFill>
              <a:latin typeface="Malgun Gothic"/>
              <a:ea typeface="Malgun Gothic"/>
            </a:endParaRPr>
          </a:p>
          <a:p>
            <a:pPr>
              <a:lnSpc>
                <a:spcPct val="150000"/>
              </a:lnSpc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400" dirty="0">
                <a:solidFill>
                  <a:srgbClr val="6B7280"/>
                </a:solidFill>
                <a:latin typeface="Malgun Gothic"/>
                <a:ea typeface="Malgun Gothic"/>
              </a:rPr>
              <a:t>성능 저하 및 원가 인상이 불가피 합니다</a:t>
            </a:r>
            <a:r>
              <a:rPr lang="en-US" altLang="ko-KR" sz="1400" dirty="0">
                <a:solidFill>
                  <a:srgbClr val="6B7280"/>
                </a:solidFill>
                <a:latin typeface="Malgun Gothic"/>
                <a:ea typeface="Malgun Gothic"/>
              </a:rPr>
              <a:t>.</a:t>
            </a:r>
            <a:endParaRPr sz="1400" dirty="0">
              <a:solidFill>
                <a:srgbClr val="6B7280"/>
              </a:solidFill>
              <a:latin typeface="Malgun Gothic"/>
              <a:ea typeface="Malgun Gothic"/>
            </a:endParaRPr>
          </a:p>
        </p:txBody>
      </p:sp>
      <p:sp>
        <p:nvSpPr>
          <p:cNvPr id="7" name="footer-note">
            <a:extLst>
              <a:ext uri="{FF2B5EF4-FFF2-40B4-BE49-F238E27FC236}">
                <a16:creationId xmlns:a16="http://schemas.microsoft.com/office/drawing/2014/main" id="{A87B8B7C-7519-4660-83D0-F3EB06745448}"/>
              </a:ext>
            </a:extLst>
          </p:cNvPr>
          <p:cNvSpPr>
            <a:spLocks noGrp="1"/>
          </p:cNvSpPr>
          <p:nvPr/>
        </p:nvSpPr>
        <p:spPr>
          <a:xfrm>
            <a:off x="590550" y="52959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이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문서는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발주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사양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수정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협의를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위한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설명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자료이며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해석은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인증기관과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재확인해야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합니다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brand-b">
            <a:extLst>
              <a:ext uri="{FF2B5EF4-FFF2-40B4-BE49-F238E27FC236}">
                <a16:creationId xmlns:a16="http://schemas.microsoft.com/office/drawing/2014/main" id="{24386262-182F-4CBF-9C3D-C507DC4FCF35}"/>
              </a:ext>
            </a:extLst>
          </p:cNvPr>
          <p:cNvSpPr>
            <a:spLocks noGrp="1"/>
          </p:cNvSpPr>
          <p:nvPr/>
        </p:nvSpPr>
        <p:spPr>
          <a:xfrm>
            <a:off x="3067050" y="5776747"/>
            <a:ext cx="2945823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6CAD"/>
                </a:solidFill>
                <a:latin typeface="Malgun Gothic"/>
                <a:ea typeface="Malgun Gothic"/>
                <a:cs typeface="Malgun Gothic"/>
              </a:defRPr>
            </a:pPr>
            <a:r>
              <a:rPr sz="280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3S</a:t>
            </a:r>
            <a:r>
              <a:rPr lang="en-US" sz="280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-Robotics</a:t>
            </a:r>
            <a:endParaRPr sz="2800" b="1" dirty="0">
              <a:solidFill>
                <a:srgbClr val="0F6CAD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E4EC2F9-F15F-A7AA-D1A3-72AAF1B7D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41" y="5776747"/>
            <a:ext cx="2199079" cy="53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533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">
            <a:extLst>
              <a:ext uri="{FF2B5EF4-FFF2-40B4-BE49-F238E27FC236}">
                <a16:creationId xmlns:a16="http://schemas.microsoft.com/office/drawing/2014/main" id="{D5D3D7D5-6875-48D0-9CD9-761F96B55C3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1. 운용 모델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ED772C6E-F337-4F26-B867-BECC2A9108F9}"/>
              </a:ext>
            </a:extLst>
          </p:cNvPr>
          <p:cNvSpPr>
            <a:spLocks noGrp="1"/>
          </p:cNvSpPr>
          <p:nvPr/>
        </p:nvSpPr>
        <p:spPr>
          <a:xfrm>
            <a:off x="2038350" y="361950"/>
            <a:ext cx="8534400" cy="0"/>
          </a:xfrm>
          <a:prstGeom prst="line">
            <a:avLst/>
          </a:prstGeom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05168ED2-2631-4FFC-949C-0776934022E6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5979391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1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운용 모델</a:t>
            </a:r>
            <a:endParaRPr sz="1800" b="1" dirty="0">
              <a:solidFill>
                <a:srgbClr val="1118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DAE9E21E-879A-41F6-B5D8-101515C40568}"/>
              </a:ext>
            </a:extLst>
          </p:cNvPr>
          <p:cNvSpPr>
            <a:spLocks noGrp="1"/>
          </p:cNvSpPr>
          <p:nvPr/>
        </p:nvSpPr>
        <p:spPr>
          <a:xfrm>
            <a:off x="11315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2</a:t>
            </a:r>
          </a:p>
        </p:txBody>
      </p:sp>
      <p:sp>
        <p:nvSpPr>
          <p:cNvPr id="6" name="left">
            <a:extLst>
              <a:ext uri="{FF2B5EF4-FFF2-40B4-BE49-F238E27FC236}">
                <a16:creationId xmlns:a16="http://schemas.microsoft.com/office/drawing/2014/main" id="{F0AEAF8D-EF9A-4D8E-A503-BB501B77D64F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4476750" cy="3714750"/>
          </a:xfrm>
          <a:prstGeom prst="roundRect">
            <a:avLst>
              <a:gd name="adj" fmla="val 3636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right">
            <a:extLst>
              <a:ext uri="{FF2B5EF4-FFF2-40B4-BE49-F238E27FC236}">
                <a16:creationId xmlns:a16="http://schemas.microsoft.com/office/drawing/2014/main" id="{0A31670B-B889-4E06-8C57-39FBC7A3C478}"/>
              </a:ext>
            </a:extLst>
          </p:cNvPr>
          <p:cNvSpPr>
            <a:spLocks noGrp="1"/>
          </p:cNvSpPr>
          <p:nvPr/>
        </p:nvSpPr>
        <p:spPr>
          <a:xfrm>
            <a:off x="5048250" y="1428750"/>
            <a:ext cx="6629400" cy="3714750"/>
          </a:xfrm>
          <a:prstGeom prst="roundRect">
            <a:avLst>
              <a:gd name="adj" fmla="val 3077"/>
            </a:avLst>
          </a:prstGeom>
          <a:solidFill>
            <a:srgbClr val="FFDDDD"/>
          </a:solidFill>
          <a:ln w="9525">
            <a:solidFill>
              <a:srgbClr val="117C7E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left-title">
            <a:extLst>
              <a:ext uri="{FF2B5EF4-FFF2-40B4-BE49-F238E27FC236}">
                <a16:creationId xmlns:a16="http://schemas.microsoft.com/office/drawing/2014/main" id="{7CB73A6D-4922-4DF0-8564-A7C313D815FF}"/>
              </a:ext>
            </a:extLst>
          </p:cNvPr>
          <p:cNvSpPr>
            <a:spLocks noGrp="1"/>
          </p:cNvSpPr>
          <p:nvPr/>
        </p:nvSpPr>
        <p:spPr>
          <a:xfrm>
            <a:off x="942063" y="1552503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73A6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 err="1">
                <a:solidFill>
                  <a:srgbClr val="173A63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1500" b="1" dirty="0">
                <a:solidFill>
                  <a:srgbClr val="173A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173A63"/>
                </a:solidFill>
                <a:latin typeface="Malgun Gothic"/>
                <a:ea typeface="Malgun Gothic"/>
                <a:cs typeface="Malgun Gothic"/>
              </a:rPr>
              <a:t>구간</a:t>
            </a:r>
            <a:endParaRPr sz="1500" b="1" dirty="0">
              <a:solidFill>
                <a:srgbClr val="173A6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left-sub">
            <a:extLst>
              <a:ext uri="{FF2B5EF4-FFF2-40B4-BE49-F238E27FC236}">
                <a16:creationId xmlns:a16="http://schemas.microsoft.com/office/drawing/2014/main" id="{1C5DBFBF-1FB6-46B1-85C8-39CAB1CE74E1}"/>
              </a:ext>
            </a:extLst>
          </p:cNvPr>
          <p:cNvSpPr>
            <a:spLocks noGrp="1"/>
          </p:cNvSpPr>
          <p:nvPr/>
        </p:nvSpPr>
        <p:spPr>
          <a:xfrm>
            <a:off x="942063" y="1895403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수동 원격 제어</a:t>
            </a:r>
          </a:p>
        </p:txBody>
      </p:sp>
      <p:sp>
        <p:nvSpPr>
          <p:cNvPr id="11" name="left-body">
            <a:extLst>
              <a:ext uri="{FF2B5EF4-FFF2-40B4-BE49-F238E27FC236}">
                <a16:creationId xmlns:a16="http://schemas.microsoft.com/office/drawing/2014/main" id="{2F2C36DC-0DC4-42FA-980D-089411A50801}"/>
              </a:ext>
            </a:extLst>
          </p:cNvPr>
          <p:cNvSpPr>
            <a:spLocks noGrp="1"/>
          </p:cNvSpPr>
          <p:nvPr/>
        </p:nvSpPr>
        <p:spPr>
          <a:xfrm>
            <a:off x="942063" y="2276403"/>
            <a:ext cx="2095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AMR </a:t>
            </a:r>
            <a:r>
              <a:rPr sz="1100" dirty="0" err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수동</a:t>
            </a:r>
            <a:r>
              <a:rPr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dirty="0" err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조작</a:t>
            </a:r>
            <a:endParaRPr sz="1100" dirty="0">
              <a:solidFill>
                <a:srgbClr val="111827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dirty="0" err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dirty="0" err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모니터링</a:t>
            </a:r>
            <a:endParaRPr sz="1100" dirty="0">
              <a:solidFill>
                <a:srgbClr val="111827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dirty="0" err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작업</a:t>
            </a:r>
            <a:r>
              <a:rPr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dirty="0" err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시작</a:t>
            </a:r>
            <a:r>
              <a:rPr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100" dirty="0" err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정지</a:t>
            </a:r>
            <a:endParaRPr sz="1100" dirty="0">
              <a:solidFill>
                <a:srgbClr val="1118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right-title">
            <a:extLst>
              <a:ext uri="{FF2B5EF4-FFF2-40B4-BE49-F238E27FC236}">
                <a16:creationId xmlns:a16="http://schemas.microsoft.com/office/drawing/2014/main" id="{43DBD721-EFC5-4882-85E8-AD4718C4AA5D}"/>
              </a:ext>
            </a:extLst>
          </p:cNvPr>
          <p:cNvSpPr>
            <a:spLocks noGrp="1"/>
          </p:cNvSpPr>
          <p:nvPr/>
        </p:nvSpPr>
        <p:spPr>
          <a:xfrm>
            <a:off x="5467356" y="1543051"/>
            <a:ext cx="297034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7C7E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1" dirty="0">
                <a:solidFill>
                  <a:srgbClr val="117C7E"/>
                </a:solidFill>
                <a:latin typeface="Malgun Gothic"/>
                <a:ea typeface="Malgun Gothic"/>
                <a:cs typeface="Malgun Gothic"/>
              </a:rPr>
              <a:t>검사</a:t>
            </a:r>
            <a:r>
              <a:rPr sz="1500" b="1" dirty="0">
                <a:solidFill>
                  <a:srgbClr val="117C7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117C7E"/>
                </a:solidFill>
                <a:latin typeface="Malgun Gothic"/>
                <a:ea typeface="Malgun Gothic"/>
                <a:cs typeface="Malgun Gothic"/>
              </a:rPr>
              <a:t>구간</a:t>
            </a:r>
            <a:endParaRPr sz="1500" b="1" dirty="0">
              <a:solidFill>
                <a:srgbClr val="117C7E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right-sub">
            <a:extLst>
              <a:ext uri="{FF2B5EF4-FFF2-40B4-BE49-F238E27FC236}">
                <a16:creationId xmlns:a16="http://schemas.microsoft.com/office/drawing/2014/main" id="{95EF0F4F-3BE1-49D5-9881-09D645A0007A}"/>
              </a:ext>
            </a:extLst>
          </p:cNvPr>
          <p:cNvSpPr>
            <a:spLocks noGrp="1"/>
          </p:cNvSpPr>
          <p:nvPr/>
        </p:nvSpPr>
        <p:spPr>
          <a:xfrm>
            <a:off x="5476596" y="1885951"/>
            <a:ext cx="238559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제한된</a:t>
            </a:r>
            <a:r>
              <a:rPr sz="12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자동</a:t>
            </a:r>
            <a:r>
              <a:rPr sz="12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이동</a:t>
            </a:r>
            <a:endParaRPr sz="1200" dirty="0">
              <a:solidFill>
                <a:srgbClr val="6B728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right-body">
            <a:extLst>
              <a:ext uri="{FF2B5EF4-FFF2-40B4-BE49-F238E27FC236}">
                <a16:creationId xmlns:a16="http://schemas.microsoft.com/office/drawing/2014/main" id="{6BBBBCAF-9D99-43C9-9BD6-1E8ECE1A4C91}"/>
              </a:ext>
            </a:extLst>
          </p:cNvPr>
          <p:cNvSpPr>
            <a:spLocks noGrp="1"/>
          </p:cNvSpPr>
          <p:nvPr/>
        </p:nvSpPr>
        <p:spPr>
          <a:xfrm>
            <a:off x="5483624" y="2266951"/>
            <a:ext cx="5089126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dirty="0" err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아웃트리거</a:t>
            </a:r>
            <a:r>
              <a:rPr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dirty="0" err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고정</a:t>
            </a:r>
            <a:r>
              <a:rPr lang="en-US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,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00" dirty="0" err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검사체</a:t>
            </a:r>
            <a:r>
              <a:rPr lang="ko-KR" altLang="en-US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 접촉</a:t>
            </a:r>
            <a:r>
              <a:rPr lang="en-US" altLang="ko-KR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자동 스위치 전환</a:t>
            </a:r>
            <a:r>
              <a:rPr lang="en-US" altLang="ko-KR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운전시작 스위치 </a:t>
            </a:r>
            <a:r>
              <a:rPr lang="en-US" altLang="ko-KR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lang="ko-KR" altLang="en-US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중 구조 인가 후 이동</a:t>
            </a:r>
            <a:endParaRPr lang="en-US" altLang="ko-KR" sz="1100" dirty="0">
              <a:solidFill>
                <a:srgbClr val="111827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협동로봇 </a:t>
            </a:r>
            <a:r>
              <a:rPr lang="ko-KR" altLang="en-US" sz="1100" dirty="0" err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검사시</a:t>
            </a:r>
            <a:r>
              <a:rPr lang="ko-KR" altLang="en-US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AMR </a:t>
            </a:r>
            <a:r>
              <a:rPr lang="ko-KR" altLang="en-US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아웃 트리거 고정</a:t>
            </a:r>
            <a:r>
              <a:rPr lang="en-US" altLang="ko-KR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이동</a:t>
            </a:r>
            <a:r>
              <a:rPr lang="en-US" altLang="ko-KR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x)</a:t>
            </a:r>
            <a:endParaRPr lang="ko-KR" altLang="en-US" sz="1100" dirty="0">
              <a:solidFill>
                <a:srgbClr val="111827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원통형태의 </a:t>
            </a:r>
            <a:r>
              <a:rPr lang="ko-KR" altLang="en-US" sz="1100" dirty="0" err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검사체외</a:t>
            </a:r>
            <a:r>
              <a:rPr lang="ko-KR" altLang="en-US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 외곽을 고정 </a:t>
            </a:r>
            <a:r>
              <a:rPr lang="en-US" altLang="ko-KR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offset</a:t>
            </a:r>
            <a:r>
              <a:rPr lang="ko-KR" altLang="en-US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으로 이동</a:t>
            </a:r>
            <a:r>
              <a:rPr lang="en-US" altLang="ko-KR" sz="1100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100" dirty="0">
              <a:solidFill>
                <a:srgbClr val="1118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3866E966-2431-4032-AE71-6E6CD05BA523}"/>
              </a:ext>
            </a:extLst>
          </p:cNvPr>
          <p:cNvSpPr>
            <a:spLocks noGrp="1"/>
          </p:cNvSpPr>
          <p:nvPr/>
        </p:nvSpPr>
        <p:spPr>
          <a:xfrm>
            <a:off x="3028950" y="4172527"/>
            <a:ext cx="1962150" cy="0"/>
          </a:xfrm>
          <a:prstGeom prst="line">
            <a:avLst/>
          </a:prstGeom>
          <a:ln w="19050">
            <a:solidFill>
              <a:srgbClr val="0F6C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C7D85EC5-54E5-479A-9F49-D5B9B53E6024}"/>
              </a:ext>
            </a:extLst>
          </p:cNvPr>
          <p:cNvSpPr>
            <a:spLocks noGrp="1"/>
          </p:cNvSpPr>
          <p:nvPr/>
        </p:nvSpPr>
        <p:spPr>
          <a:xfrm>
            <a:off x="5048250" y="4172527"/>
            <a:ext cx="2479386" cy="0"/>
          </a:xfrm>
          <a:prstGeom prst="line">
            <a:avLst/>
          </a:prstGeom>
          <a:ln w="19050">
            <a:solidFill>
              <a:srgbClr val="D94B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caption">
            <a:extLst>
              <a:ext uri="{FF2B5EF4-FFF2-40B4-BE49-F238E27FC236}">
                <a16:creationId xmlns:a16="http://schemas.microsoft.com/office/drawing/2014/main" id="{2299418B-9718-420E-9019-F111927DE584}"/>
              </a:ext>
            </a:extLst>
          </p:cNvPr>
          <p:cNvSpPr>
            <a:spLocks noGrp="1"/>
          </p:cNvSpPr>
          <p:nvPr/>
        </p:nvSpPr>
        <p:spPr>
          <a:xfrm>
            <a:off x="628649" y="5410200"/>
            <a:ext cx="522720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25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검사체</a:t>
            </a:r>
            <a:r>
              <a:rPr lang="ko-KR" altLang="en-US" sz="1125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외부 수동이동</a:t>
            </a:r>
            <a:r>
              <a:rPr sz="1125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-&gt; </a:t>
            </a:r>
            <a:r>
              <a:rPr lang="ko-KR" altLang="en-US" sz="1125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검사체</a:t>
            </a:r>
            <a:r>
              <a:rPr lang="ko-KR" altLang="en-US" sz="1125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125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자동시</a:t>
            </a:r>
            <a:r>
              <a:rPr lang="ko-KR" altLang="en-US" sz="1125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자동 이동</a:t>
            </a:r>
            <a:r>
              <a:rPr sz="1125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-&gt; </a:t>
            </a:r>
            <a:r>
              <a:rPr sz="1125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다음</a:t>
            </a:r>
            <a:r>
              <a:rPr sz="1125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위치</a:t>
            </a:r>
            <a:r>
              <a:rPr lang="en-US" sz="1125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125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수동</a:t>
            </a:r>
            <a:r>
              <a:rPr sz="1125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이동</a:t>
            </a:r>
            <a:endParaRPr sz="1125" dirty="0">
              <a:solidFill>
                <a:srgbClr val="6B7280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73E85254-9FA2-7494-FABF-A091AF076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 flipH="1">
            <a:off x="7135494" y="3162300"/>
            <a:ext cx="2160914" cy="1666082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155948EE-952D-7512-16F3-20173C171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 flipH="1">
            <a:off x="1392200" y="3066978"/>
            <a:ext cx="2160914" cy="1666082"/>
          </a:xfrm>
          <a:prstGeom prst="rect">
            <a:avLst/>
          </a:prstGeom>
        </p:spPr>
      </p:pic>
      <p:sp>
        <p:nvSpPr>
          <p:cNvPr id="29" name="studio">
            <a:extLst>
              <a:ext uri="{FF2B5EF4-FFF2-40B4-BE49-F238E27FC236}">
                <a16:creationId xmlns:a16="http://schemas.microsoft.com/office/drawing/2014/main" id="{4CCDD413-05CD-74DA-5C12-6BCFC6C51863}"/>
              </a:ext>
            </a:extLst>
          </p:cNvPr>
          <p:cNvSpPr>
            <a:spLocks noGrp="1"/>
          </p:cNvSpPr>
          <p:nvPr/>
        </p:nvSpPr>
        <p:spPr>
          <a:xfrm>
            <a:off x="10640291" y="209550"/>
            <a:ext cx="117301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6CA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3S</a:t>
            </a:r>
            <a:r>
              <a:rPr lang="en-US"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-Robotics</a:t>
            </a:r>
            <a:endParaRPr sz="1350" b="1" dirty="0">
              <a:solidFill>
                <a:srgbClr val="0F6CAD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2099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ection">
            <a:extLst>
              <a:ext uri="{FF2B5EF4-FFF2-40B4-BE49-F238E27FC236}">
                <a16:creationId xmlns:a16="http://schemas.microsoft.com/office/drawing/2014/main" id="{4103030A-EA7D-4D4B-9852-F7397A21C10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2. 표준 범위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6531283C-82A4-4994-BC81-8E4BF285B962}"/>
              </a:ext>
            </a:extLst>
          </p:cNvPr>
          <p:cNvSpPr>
            <a:spLocks noGrp="1"/>
          </p:cNvSpPr>
          <p:nvPr/>
        </p:nvSpPr>
        <p:spPr>
          <a:xfrm>
            <a:off x="2038350" y="361950"/>
            <a:ext cx="8534400" cy="0"/>
          </a:xfrm>
          <a:prstGeom prst="line">
            <a:avLst/>
          </a:prstGeom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66A07461-8C3B-444C-A325-0E9212133FBD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1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안전 범위 및 조치 사항</a:t>
            </a:r>
            <a:endParaRPr sz="1800" b="1" dirty="0">
              <a:solidFill>
                <a:srgbClr val="1118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313F3112-097F-44CA-AC13-089F618659AC}"/>
              </a:ext>
            </a:extLst>
          </p:cNvPr>
          <p:cNvSpPr>
            <a:spLocks noGrp="1"/>
          </p:cNvSpPr>
          <p:nvPr/>
        </p:nvSpPr>
        <p:spPr>
          <a:xfrm>
            <a:off x="11315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3</a:t>
            </a:r>
          </a:p>
        </p:txBody>
      </p:sp>
      <p:sp>
        <p:nvSpPr>
          <p:cNvPr id="40" name="studio">
            <a:extLst>
              <a:ext uri="{FF2B5EF4-FFF2-40B4-BE49-F238E27FC236}">
                <a16:creationId xmlns:a16="http://schemas.microsoft.com/office/drawing/2014/main" id="{0494096A-6C82-3098-7108-6C0226014D7E}"/>
              </a:ext>
            </a:extLst>
          </p:cNvPr>
          <p:cNvSpPr>
            <a:spLocks noGrp="1"/>
          </p:cNvSpPr>
          <p:nvPr/>
        </p:nvSpPr>
        <p:spPr>
          <a:xfrm>
            <a:off x="10640291" y="209550"/>
            <a:ext cx="117301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6CA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3S</a:t>
            </a:r>
            <a:r>
              <a:rPr lang="en-US"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-Robotics</a:t>
            </a:r>
            <a:endParaRPr sz="1350" b="1" dirty="0">
              <a:solidFill>
                <a:srgbClr val="0F6CAD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07A3991-F268-EA3A-8454-0EB8FEE44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531966"/>
              </p:ext>
            </p:extLst>
          </p:nvPr>
        </p:nvGraphicFramePr>
        <p:xfrm>
          <a:off x="495300" y="1123949"/>
          <a:ext cx="10967027" cy="4610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458">
                  <a:extLst>
                    <a:ext uri="{9D8B030D-6E8A-4147-A177-3AD203B41FA5}">
                      <a16:colId xmlns:a16="http://schemas.microsoft.com/office/drawing/2014/main" val="3124828563"/>
                    </a:ext>
                  </a:extLst>
                </a:gridCol>
                <a:gridCol w="3336060">
                  <a:extLst>
                    <a:ext uri="{9D8B030D-6E8A-4147-A177-3AD203B41FA5}">
                      <a16:colId xmlns:a16="http://schemas.microsoft.com/office/drawing/2014/main" val="1027274906"/>
                    </a:ext>
                  </a:extLst>
                </a:gridCol>
                <a:gridCol w="5920509">
                  <a:extLst>
                    <a:ext uri="{9D8B030D-6E8A-4147-A177-3AD203B41FA5}">
                      <a16:colId xmlns:a16="http://schemas.microsoft.com/office/drawing/2014/main" val="3773137663"/>
                    </a:ext>
                  </a:extLst>
                </a:gridCol>
              </a:tblGrid>
              <a:tr h="5145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표준</a:t>
                      </a:r>
                      <a:endParaRPr lang="ko-KR" altLang="en-US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핵심 적용 대상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예정 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191087"/>
                  </a:ext>
                </a:extLst>
              </a:tr>
              <a:tr h="59212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ISO 3691-4</a:t>
                      </a:r>
                      <a:b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</a:br>
                      <a:r>
                        <a:rPr lang="en-US" altLang="ko-KR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불가</a:t>
                      </a:r>
                      <a:r>
                        <a:rPr lang="en-US" altLang="ko-KR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  <a:endParaRPr lang="en-US" altLang="ko-KR" sz="105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무인 이동차량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driverless truck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국내 인증 기관이 존재하지 않으며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해외 인증 필요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고가의 인증 비용과 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년 이상의 인증 기간이 필요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인증에 필요한 부품단가가 높아 원가 반영 필요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 </a:t>
                      </a:r>
                      <a:endParaRPr lang="ko-KR" altLang="en-US" sz="11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728151"/>
                  </a:ext>
                </a:extLst>
              </a:tr>
              <a:tr h="5145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ISO 10218-1/2 </a:t>
                      </a:r>
                      <a:b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</a:br>
                      <a:r>
                        <a:rPr lang="en-US" altLang="ko-KR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비용 별도</a:t>
                      </a:r>
                      <a:r>
                        <a:rPr lang="en-US" altLang="ko-KR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산업용 로봇 및 로봇 시스템 통합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협동로봇 안전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AMR 10218-1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인증대상 아님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협동로봇 인증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有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10218-2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예정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453708"/>
                  </a:ext>
                </a:extLst>
              </a:tr>
              <a:tr h="824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ISO/TS 15066</a:t>
                      </a:r>
                      <a:b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</a:br>
                      <a:r>
                        <a:rPr lang="en-US" altLang="ko-KR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불필요</a:t>
                      </a:r>
                      <a:r>
                        <a:rPr lang="en-US" altLang="ko-KR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협동 로봇(</a:t>
                      </a:r>
                      <a:r>
                        <a:rPr lang="ko-KR" altLang="ko-KR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Collaborative</a:t>
                      </a:r>
                      <a:r>
                        <a:rPr lang="ko-KR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ko-KR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Robots</a:t>
                      </a:r>
                      <a:r>
                        <a:rPr lang="ko-KR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altLang="ko-KR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Cobots</a:t>
                      </a:r>
                      <a:r>
                        <a:rPr lang="ko-KR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) 시스템 및 작업 환경의 안전 </a:t>
                      </a:r>
                      <a:r>
                        <a:rPr lang="ko-KR" altLang="ko-KR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요구사항'에</a:t>
                      </a:r>
                      <a:r>
                        <a:rPr lang="ko-KR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 관한 국제 기술 규격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ISO 10218-2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에 포함되어 있는 내용으로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별도의 인증 제도 없음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423495"/>
                  </a:ext>
                </a:extLst>
              </a:tr>
              <a:tr h="824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KS B 7327</a:t>
                      </a:r>
                      <a:b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</a:br>
                      <a:r>
                        <a:rPr lang="en-US" altLang="ko-KR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비용 별도</a:t>
                      </a:r>
                      <a:r>
                        <a:rPr lang="en-US" altLang="ko-KR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장비의 하드웨어 구성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(AGV +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로봇 팔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)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때문에 형식적인 검토 대상에 </a:t>
                      </a:r>
                      <a:r>
                        <a:rPr lang="ko-KR" altLang="en-US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들어감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하지만 현재 국내 인증 기관 준비 중으로 당장 인증이 불가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AMR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이 이동중일때 협동로봇의 브레이크 잠금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(Lock)'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상태로 만드는 하드웨어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소프트웨어 </a:t>
                      </a:r>
                      <a:r>
                        <a:rPr lang="ko-KR" altLang="en-US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인터락을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 구성하면 인증이 심플해 질 수 있음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410875"/>
                  </a:ext>
                </a:extLst>
              </a:tr>
              <a:tr h="82474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ISO 12100</a:t>
                      </a:r>
                      <a:b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</a:br>
                      <a:r>
                        <a:rPr lang="en-US" altLang="ko-KR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불필요</a:t>
                      </a:r>
                      <a:r>
                        <a:rPr lang="en-US" altLang="ko-KR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  <a:endParaRPr lang="en-US" altLang="ko-KR" sz="105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일반기계류에 대한 표준으로서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A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 표준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로봇 시스템과 같이 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 표준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(e.g., ISO 10218)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있는 경우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C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 표준으로 위험성평가를 수행해야 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로봇은 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형에 해당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중복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310716"/>
                  </a:ext>
                </a:extLst>
              </a:tr>
              <a:tr h="51458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로봇산업진흥원 안전인증</a:t>
                      </a:r>
                      <a:endParaRPr lang="en-US" altLang="ko-KR" sz="105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불필요</a:t>
                      </a:r>
                      <a:r>
                        <a:rPr lang="en-US" altLang="ko-KR" sz="105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  <a:endParaRPr lang="ko-KR" altLang="en-US" sz="105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단위 안전성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실외이동로봇 운행안전인증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으로 예상되며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 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 내용과 동일하게 고객이 요구하는 로봇은 해당 인증 대상이 아님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867108"/>
                  </a:ext>
                </a:extLst>
              </a:tr>
            </a:tbl>
          </a:graphicData>
        </a:graphic>
      </p:graphicFrame>
      <p:sp>
        <p:nvSpPr>
          <p:cNvPr id="7" name="footer-note">
            <a:extLst>
              <a:ext uri="{FF2B5EF4-FFF2-40B4-BE49-F238E27FC236}">
                <a16:creationId xmlns:a16="http://schemas.microsoft.com/office/drawing/2014/main" id="{FF952AFF-C27D-C276-187B-09BFA2F8F98A}"/>
              </a:ext>
            </a:extLst>
          </p:cNvPr>
          <p:cNvSpPr>
            <a:spLocks noGrp="1"/>
          </p:cNvSpPr>
          <p:nvPr/>
        </p:nvSpPr>
        <p:spPr>
          <a:xfrm>
            <a:off x="322696" y="63627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이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문서는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발주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사양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수정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협의를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위한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설명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자료이며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해석은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인증기관과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재확인해야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합니다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2461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8C8C6-CC23-75ED-C9F2-530E1A220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ection">
            <a:extLst>
              <a:ext uri="{FF2B5EF4-FFF2-40B4-BE49-F238E27FC236}">
                <a16:creationId xmlns:a16="http://schemas.microsoft.com/office/drawing/2014/main" id="{42545559-2E41-34C4-3984-75CB2BBE32E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2. 표준 범위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6B279C64-29EF-7435-6129-D03D712B1DE5}"/>
              </a:ext>
            </a:extLst>
          </p:cNvPr>
          <p:cNvSpPr>
            <a:spLocks noGrp="1"/>
          </p:cNvSpPr>
          <p:nvPr/>
        </p:nvSpPr>
        <p:spPr>
          <a:xfrm>
            <a:off x="2038350" y="361950"/>
            <a:ext cx="8534400" cy="0"/>
          </a:xfrm>
          <a:prstGeom prst="line">
            <a:avLst/>
          </a:prstGeom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9FD9DAF-3E2D-32C0-9A01-1405C5037FEF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b="1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KS</a:t>
            </a:r>
            <a:r>
              <a:rPr lang="ko-KR" altLang="en-US" b="1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b="1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</a:t>
            </a:r>
            <a:r>
              <a:rPr lang="ko-KR" altLang="en-US" b="1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b="1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7327</a:t>
            </a:r>
            <a:endParaRPr sz="1800" b="1" dirty="0">
              <a:solidFill>
                <a:srgbClr val="1118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B81F6815-9F0C-61DE-1203-4397132F4AF9}"/>
              </a:ext>
            </a:extLst>
          </p:cNvPr>
          <p:cNvSpPr>
            <a:spLocks noGrp="1"/>
          </p:cNvSpPr>
          <p:nvPr/>
        </p:nvSpPr>
        <p:spPr>
          <a:xfrm>
            <a:off x="11315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3</a:t>
            </a:r>
          </a:p>
        </p:txBody>
      </p:sp>
      <p:sp>
        <p:nvSpPr>
          <p:cNvPr id="40" name="studio">
            <a:extLst>
              <a:ext uri="{FF2B5EF4-FFF2-40B4-BE49-F238E27FC236}">
                <a16:creationId xmlns:a16="http://schemas.microsoft.com/office/drawing/2014/main" id="{9B958AF7-B5CA-E8C3-5219-341ADA1F554B}"/>
              </a:ext>
            </a:extLst>
          </p:cNvPr>
          <p:cNvSpPr>
            <a:spLocks noGrp="1"/>
          </p:cNvSpPr>
          <p:nvPr/>
        </p:nvSpPr>
        <p:spPr>
          <a:xfrm>
            <a:off x="10640291" y="209550"/>
            <a:ext cx="117301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6CA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3S</a:t>
            </a:r>
            <a:r>
              <a:rPr lang="en-US"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-Robotics</a:t>
            </a:r>
            <a:endParaRPr sz="1350" b="1" dirty="0">
              <a:solidFill>
                <a:srgbClr val="0F6CAD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3EA55963-BDD7-53F5-7D9F-F9CA71955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319935"/>
              </p:ext>
            </p:extLst>
          </p:nvPr>
        </p:nvGraphicFramePr>
        <p:xfrm>
          <a:off x="943841" y="1389763"/>
          <a:ext cx="9389918" cy="3791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9435">
                  <a:extLst>
                    <a:ext uri="{9D8B030D-6E8A-4147-A177-3AD203B41FA5}">
                      <a16:colId xmlns:a16="http://schemas.microsoft.com/office/drawing/2014/main" val="1003166814"/>
                    </a:ext>
                  </a:extLst>
                </a:gridCol>
                <a:gridCol w="3507882">
                  <a:extLst>
                    <a:ext uri="{9D8B030D-6E8A-4147-A177-3AD203B41FA5}">
                      <a16:colId xmlns:a16="http://schemas.microsoft.com/office/drawing/2014/main" val="1354692556"/>
                    </a:ext>
                  </a:extLst>
                </a:gridCol>
                <a:gridCol w="3662601">
                  <a:extLst>
                    <a:ext uri="{9D8B030D-6E8A-4147-A177-3AD203B41FA5}">
                      <a16:colId xmlns:a16="http://schemas.microsoft.com/office/drawing/2014/main" val="2643692798"/>
                    </a:ext>
                  </a:extLst>
                </a:gridCol>
              </a:tblGrid>
              <a:tr h="460488">
                <a:tc>
                  <a:txBody>
                    <a:bodyPr/>
                    <a:lstStyle/>
                    <a:p>
                      <a:pPr marL="0" algn="ctr" latinLnBrk="1">
                        <a:buNone/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latinLnBrk="1">
                        <a:buNone/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</a:rPr>
                        <a:t>검토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latinLnBrk="1">
                        <a:buNone/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</a:rPr>
                        <a:t>적합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930227"/>
                  </a:ext>
                </a:extLst>
              </a:tr>
              <a:tr h="56772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위험성 평가</a:t>
                      </a:r>
                      <a:endParaRPr lang="ko-KR" altLang="en-US" sz="105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로봇이 사람, 장애물, 경사, 노면, 교차로 상황에서 어떤 위험을 만드는지 평가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Safety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등급 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Lidar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센서 및 충돌 감지센서 장착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경사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교차로 등의 해당 사항 없음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214347"/>
                  </a:ext>
                </a:extLst>
              </a:tr>
              <a:tr h="460488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장애물 감지</a:t>
                      </a:r>
                      <a:endParaRPr lang="ko-KR" altLang="en-US" sz="105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보행자, 물체, 예상치 못한 장애물 감지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ISO 3691-4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기준의 장애물 감지 기능 구현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52690"/>
                  </a:ext>
                </a:extLst>
              </a:tr>
              <a:tr h="460488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정지 성능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감지 후 안전하게 멈출 수 있는지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장애물 </a:t>
                      </a:r>
                      <a:r>
                        <a:rPr lang="ko-KR" altLang="en-US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감지시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Safety PLC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에서 모터 동력 차단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및 물리 브레이크 작동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160691"/>
                  </a:ext>
                </a:extLst>
              </a:tr>
              <a:tr h="460488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주행 안전성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전도, 미끄러짐, 경사, 노면 조건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자동 운전 중 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Slip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발생시 즉각 정지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43443"/>
                  </a:ext>
                </a:extLst>
              </a:tr>
              <a:tr h="460488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전기 안전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배터리, 배선, 충전부, 절연, 비상정지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고려하여 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7056"/>
                  </a:ext>
                </a:extLst>
              </a:tr>
              <a:tr h="460488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외함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 보호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실외 환경이므로 방진·방수 IP 등급 검토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고려하여 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0380"/>
                  </a:ext>
                </a:extLst>
              </a:tr>
              <a:tr h="460488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성능 시험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이동능력, 회피, 정지, 안전기능 시험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수동조작시 회피 없음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자동 운전시 장애물 정지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. 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19654"/>
                  </a:ext>
                </a:extLst>
              </a:tr>
            </a:tbl>
          </a:graphicData>
        </a:graphic>
      </p:graphicFrame>
      <p:sp>
        <p:nvSpPr>
          <p:cNvPr id="6" name="footer-note">
            <a:extLst>
              <a:ext uri="{FF2B5EF4-FFF2-40B4-BE49-F238E27FC236}">
                <a16:creationId xmlns:a16="http://schemas.microsoft.com/office/drawing/2014/main" id="{26C579C1-C6B7-6B78-937E-959B9D0B4032}"/>
              </a:ext>
            </a:extLst>
          </p:cNvPr>
          <p:cNvSpPr>
            <a:spLocks noGrp="1"/>
          </p:cNvSpPr>
          <p:nvPr/>
        </p:nvSpPr>
        <p:spPr>
          <a:xfrm>
            <a:off x="322696" y="63627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이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문서는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발주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사양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수정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협의를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위한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설명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자료이며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해석은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인증기관과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재확인해야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합니다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7409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74EAA-2158-D475-09FF-C69846A66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ection">
            <a:extLst>
              <a:ext uri="{FF2B5EF4-FFF2-40B4-BE49-F238E27FC236}">
                <a16:creationId xmlns:a16="http://schemas.microsoft.com/office/drawing/2014/main" id="{A92DD6B3-E2B9-42DC-AD35-211102309F8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2. 표준 범위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2BBE2922-1AFB-80C5-7578-38AEAF5D95CE}"/>
              </a:ext>
            </a:extLst>
          </p:cNvPr>
          <p:cNvSpPr>
            <a:spLocks noGrp="1"/>
          </p:cNvSpPr>
          <p:nvPr/>
        </p:nvSpPr>
        <p:spPr>
          <a:xfrm>
            <a:off x="2038350" y="361950"/>
            <a:ext cx="8534400" cy="0"/>
          </a:xfrm>
          <a:prstGeom prst="line">
            <a:avLst/>
          </a:prstGeom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077DA3B3-133F-0B64-F711-741D566B3298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b="1" dirty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ISO/TS 15066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BD19983E-5CB1-7D5F-DB10-11825CC7A84A}"/>
              </a:ext>
            </a:extLst>
          </p:cNvPr>
          <p:cNvSpPr>
            <a:spLocks noGrp="1"/>
          </p:cNvSpPr>
          <p:nvPr/>
        </p:nvSpPr>
        <p:spPr>
          <a:xfrm>
            <a:off x="11315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3</a:t>
            </a:r>
          </a:p>
        </p:txBody>
      </p:sp>
      <p:sp>
        <p:nvSpPr>
          <p:cNvPr id="40" name="studio">
            <a:extLst>
              <a:ext uri="{FF2B5EF4-FFF2-40B4-BE49-F238E27FC236}">
                <a16:creationId xmlns:a16="http://schemas.microsoft.com/office/drawing/2014/main" id="{05A939C8-28D4-623A-8C27-73CF86340AFC}"/>
              </a:ext>
            </a:extLst>
          </p:cNvPr>
          <p:cNvSpPr>
            <a:spLocks noGrp="1"/>
          </p:cNvSpPr>
          <p:nvPr/>
        </p:nvSpPr>
        <p:spPr>
          <a:xfrm>
            <a:off x="10640291" y="209550"/>
            <a:ext cx="117301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6CA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3S</a:t>
            </a:r>
            <a:r>
              <a:rPr lang="en-US"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-Robotics</a:t>
            </a:r>
            <a:endParaRPr sz="1350" b="1" dirty="0">
              <a:solidFill>
                <a:srgbClr val="0F6CAD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20D1396-12C1-E2A6-6CEC-975AC1236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553869"/>
              </p:ext>
            </p:extLst>
          </p:nvPr>
        </p:nvGraphicFramePr>
        <p:xfrm>
          <a:off x="1154546" y="1092131"/>
          <a:ext cx="10039929" cy="5336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5963">
                  <a:extLst>
                    <a:ext uri="{9D8B030D-6E8A-4147-A177-3AD203B41FA5}">
                      <a16:colId xmlns:a16="http://schemas.microsoft.com/office/drawing/2014/main" val="1784648556"/>
                    </a:ext>
                  </a:extLst>
                </a:gridCol>
                <a:gridCol w="3491346">
                  <a:extLst>
                    <a:ext uri="{9D8B030D-6E8A-4147-A177-3AD203B41FA5}">
                      <a16:colId xmlns:a16="http://schemas.microsoft.com/office/drawing/2014/main" val="3555930783"/>
                    </a:ext>
                  </a:extLst>
                </a:gridCol>
                <a:gridCol w="4322620">
                  <a:extLst>
                    <a:ext uri="{9D8B030D-6E8A-4147-A177-3AD203B41FA5}">
                      <a16:colId xmlns:a16="http://schemas.microsoft.com/office/drawing/2014/main" val="3611462933"/>
                    </a:ext>
                  </a:extLst>
                </a:gridCol>
              </a:tblGrid>
              <a:tr h="396152">
                <a:tc>
                  <a:txBody>
                    <a:bodyPr/>
                    <a:lstStyle/>
                    <a:p>
                      <a:pPr marL="0" algn="ctr" latinLnBrk="1">
                        <a:buNone/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항목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latinLnBrk="1">
                        <a:buNone/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  <a:cs typeface="+mn-cs"/>
                        </a:rPr>
                        <a:t>검토 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latinLnBrk="1">
                        <a:buNone/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적합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821667"/>
                  </a:ext>
                </a:extLst>
              </a:tr>
              <a:tr h="668862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위험성 평가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사람과 로봇이 방책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펜스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)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없이 공존하는 작업 공간 내에서 발생할 수 있는 모든 충돌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끼임 </a:t>
                      </a:r>
                      <a:r>
                        <a:rPr lang="ko-KR" altLang="en-US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위험원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식별 및 평가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안전등급 장애물 감지 센서 및 추가 비상정지 장치 설치하여 끼임 예방 장치 마련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89396"/>
                  </a:ext>
                </a:extLst>
              </a:tr>
              <a:tr h="54374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안전 정격 감시 정지</a:t>
                      </a:r>
                    </a:p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　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작업자가 협업 공간 진입 시 로봇이 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'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안전 등급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(</a:t>
                      </a:r>
                      <a:r>
                        <a:rPr lang="en-US" altLang="ko-KR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PLd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등급 이상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)'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을 유지하며 확실히 정지하는지 검증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Category 3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등급 안전 센서 사용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21145"/>
                  </a:ext>
                </a:extLst>
              </a:tr>
              <a:tr h="668862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핸드 가이드</a:t>
                      </a:r>
                    </a:p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　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작업자가 로봇 말단 제어 장치를 잡고 직접 조작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·</a:t>
                      </a:r>
                      <a:r>
                        <a:rPr lang="ko-KR" altLang="en-US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티칭할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때의 안전성 및 속도 제한 검토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유선 수동 조작 리모컨 장착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일반 이동시 수동주행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검사대상 센서 </a:t>
                      </a:r>
                      <a:r>
                        <a:rPr lang="ko-KR" altLang="en-US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감지시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자동주행 활성화 가능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922265"/>
                  </a:ext>
                </a:extLst>
              </a:tr>
              <a:tr h="62928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속도 및 </a:t>
                      </a:r>
                      <a:r>
                        <a:rPr lang="ko-KR" altLang="en-US" sz="1050" b="1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이격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감시</a:t>
                      </a:r>
                    </a:p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　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사람과 로봇의 거리를 실시간 감시하여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접근 거리에 따라 감속 및 정지가 유기적으로 이루어지는지 검증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자동주행시 로봇 주행 속도 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300 mm/s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이하로 자동 제한 및 모니터링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위험범위 사람감지시 즉시 정지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동력차단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비상 정지 스위치 및 범퍼스위치 장착하여 비상시 동력 차단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101448"/>
                  </a:ext>
                </a:extLst>
              </a:tr>
              <a:tr h="62928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동력 및 힘 제한</a:t>
                      </a:r>
                    </a:p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　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불시의 충돌 발생 시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인체에 가해지는 충돌 힘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(Force)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과 압력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(Pressure)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이 생체역학적 한계치 이내인지 검증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협동로봇 충돌 감지 기능 有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AMR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범퍼센서 충돌 </a:t>
                      </a:r>
                      <a:r>
                        <a:rPr lang="ko-KR" altLang="en-US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감지시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즉시 정지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-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동력 차단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34009"/>
                  </a:ext>
                </a:extLst>
              </a:tr>
              <a:tr h="62715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생체역학적 안전 검증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인체 부위별</a:t>
                      </a:r>
                      <a:r>
                        <a:rPr lang="en-US" altLang="ko-KR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두부</a:t>
                      </a:r>
                      <a:r>
                        <a:rPr lang="en-US" altLang="ko-KR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상지</a:t>
                      </a:r>
                      <a:r>
                        <a:rPr lang="en-US" altLang="ko-KR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하지 등</a:t>
                      </a:r>
                      <a:r>
                        <a:rPr lang="en-US" altLang="ko-KR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) </a:t>
                      </a:r>
                      <a:r>
                        <a:rPr lang="ko-KR" altLang="en-US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접촉 위험에 따른 물리적 상해 수치 만족 여부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구역 감지센서 상하단 장착하여 위험 감지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855953"/>
                  </a:ext>
                </a:extLst>
              </a:tr>
              <a:tr h="62928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그리퍼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및 툴 안전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전원 차단</a:t>
                      </a:r>
                      <a:r>
                        <a:rPr lang="en-US" altLang="ko-KR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정전</a:t>
                      </a:r>
                      <a:r>
                        <a:rPr lang="en-US" altLang="ko-KR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에어 단선 등</a:t>
                      </a:r>
                      <a:r>
                        <a:rPr lang="en-US" altLang="ko-KR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) </a:t>
                      </a:r>
                      <a:r>
                        <a:rPr lang="ko-KR" altLang="en-US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비상 상황 발생 시</a:t>
                      </a:r>
                      <a:r>
                        <a:rPr lang="en-US" altLang="ko-KR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파지하고 있던 작업물이 이탈하여 낙하하는지 여부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툴 고정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76446"/>
                  </a:ext>
                </a:extLst>
              </a:tr>
              <a:tr h="54374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잔여 위험 정보 제공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3</a:t>
                      </a:r>
                      <a:r>
                        <a:rPr lang="ko-KR" altLang="en-US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단계 감소 대책 이후에도 제거되지 않은 잔여 위험</a:t>
                      </a:r>
                      <a:r>
                        <a:rPr lang="en-US" altLang="ko-KR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말단 툴의 날카로운 모서리 등</a:t>
                      </a:r>
                      <a:r>
                        <a:rPr lang="en-US" altLang="ko-KR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)</a:t>
                      </a:r>
                      <a:r>
                        <a:rPr lang="ko-KR" altLang="en-US" sz="1100" b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에 대한 조치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AMR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외부 안전 스티커 부착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시그널 램프 장착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위험부위 제거 설계반영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67506"/>
                  </a:ext>
                </a:extLst>
              </a:tr>
            </a:tbl>
          </a:graphicData>
        </a:graphic>
      </p:graphicFrame>
      <p:sp>
        <p:nvSpPr>
          <p:cNvPr id="9" name="footer-note">
            <a:extLst>
              <a:ext uri="{FF2B5EF4-FFF2-40B4-BE49-F238E27FC236}">
                <a16:creationId xmlns:a16="http://schemas.microsoft.com/office/drawing/2014/main" id="{66257F85-8D78-4523-E779-750324B0DC4A}"/>
              </a:ext>
            </a:extLst>
          </p:cNvPr>
          <p:cNvSpPr>
            <a:spLocks noGrp="1"/>
          </p:cNvSpPr>
          <p:nvPr/>
        </p:nvSpPr>
        <p:spPr>
          <a:xfrm>
            <a:off x="322696" y="640888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이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문서는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발주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사양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수정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협의를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위한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설명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자료이며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해석은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인증기관과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재확인해야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합니다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822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8B43-A4FD-8FF8-3B66-5D2574B1C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ection">
            <a:extLst>
              <a:ext uri="{FF2B5EF4-FFF2-40B4-BE49-F238E27FC236}">
                <a16:creationId xmlns:a16="http://schemas.microsoft.com/office/drawing/2014/main" id="{B0EB1A08-8581-C503-C2B1-F0AE3A30ECD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2. 표준 범위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C2E4A21F-A1FB-2755-480E-DDF907C23AEB}"/>
              </a:ext>
            </a:extLst>
          </p:cNvPr>
          <p:cNvSpPr>
            <a:spLocks noGrp="1"/>
          </p:cNvSpPr>
          <p:nvPr/>
        </p:nvSpPr>
        <p:spPr>
          <a:xfrm>
            <a:off x="2038350" y="361950"/>
            <a:ext cx="8534400" cy="0"/>
          </a:xfrm>
          <a:prstGeom prst="line">
            <a:avLst/>
          </a:prstGeom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169B975-3D89-DE65-2392-54E228CC82DE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b="1" dirty="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ISO 12100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97DACEB4-6071-4EA2-BD00-004DB26A7C1A}"/>
              </a:ext>
            </a:extLst>
          </p:cNvPr>
          <p:cNvSpPr>
            <a:spLocks noGrp="1"/>
          </p:cNvSpPr>
          <p:nvPr/>
        </p:nvSpPr>
        <p:spPr>
          <a:xfrm>
            <a:off x="11315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3</a:t>
            </a:r>
          </a:p>
        </p:txBody>
      </p:sp>
      <p:sp>
        <p:nvSpPr>
          <p:cNvPr id="40" name="studio">
            <a:extLst>
              <a:ext uri="{FF2B5EF4-FFF2-40B4-BE49-F238E27FC236}">
                <a16:creationId xmlns:a16="http://schemas.microsoft.com/office/drawing/2014/main" id="{68DB5D2C-1263-6C57-A422-BC4983EF16AE}"/>
              </a:ext>
            </a:extLst>
          </p:cNvPr>
          <p:cNvSpPr>
            <a:spLocks noGrp="1"/>
          </p:cNvSpPr>
          <p:nvPr/>
        </p:nvSpPr>
        <p:spPr>
          <a:xfrm>
            <a:off x="10640291" y="209550"/>
            <a:ext cx="117301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6CA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3S</a:t>
            </a:r>
            <a:r>
              <a:rPr lang="en-US"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-Robotics</a:t>
            </a:r>
            <a:endParaRPr sz="1350" b="1" dirty="0">
              <a:solidFill>
                <a:srgbClr val="0F6CAD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957DF6D-BCA1-AE2C-029C-B009804CF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119487"/>
              </p:ext>
            </p:extLst>
          </p:nvPr>
        </p:nvGraphicFramePr>
        <p:xfrm>
          <a:off x="1154546" y="1092131"/>
          <a:ext cx="10039929" cy="47926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5963">
                  <a:extLst>
                    <a:ext uri="{9D8B030D-6E8A-4147-A177-3AD203B41FA5}">
                      <a16:colId xmlns:a16="http://schemas.microsoft.com/office/drawing/2014/main" val="1784648556"/>
                    </a:ext>
                  </a:extLst>
                </a:gridCol>
                <a:gridCol w="3491346">
                  <a:extLst>
                    <a:ext uri="{9D8B030D-6E8A-4147-A177-3AD203B41FA5}">
                      <a16:colId xmlns:a16="http://schemas.microsoft.com/office/drawing/2014/main" val="3555930783"/>
                    </a:ext>
                  </a:extLst>
                </a:gridCol>
                <a:gridCol w="4322620">
                  <a:extLst>
                    <a:ext uri="{9D8B030D-6E8A-4147-A177-3AD203B41FA5}">
                      <a16:colId xmlns:a16="http://schemas.microsoft.com/office/drawing/2014/main" val="3611462933"/>
                    </a:ext>
                  </a:extLst>
                </a:gridCol>
              </a:tblGrid>
              <a:tr h="396152">
                <a:tc>
                  <a:txBody>
                    <a:bodyPr/>
                    <a:lstStyle/>
                    <a:p>
                      <a:pPr marL="0" algn="ctr" latinLnBrk="1">
                        <a:buNone/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항목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latinLnBrk="1">
                        <a:buNone/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  <a:cs typeface="+mn-cs"/>
                        </a:rPr>
                        <a:t>검토 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latinLnBrk="1">
                        <a:buNone/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적합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821667"/>
                  </a:ext>
                </a:extLst>
              </a:tr>
              <a:tr h="668862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기계 한계 결정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기계의 사용 목적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공간적 가동 범위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수명 및 시간적 한계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오용 가능성 정의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기계의 사용 목적 별 </a:t>
                      </a:r>
                      <a:r>
                        <a:rPr lang="ko-KR" altLang="en-US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인터록을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설정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오용 가능성을 배제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.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89396"/>
                  </a:ext>
                </a:extLst>
              </a:tr>
              <a:tr h="54374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위험원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식별　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기계의 전 수명 주기 동안 발생할 수 있는 모든 위험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기계적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전기적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열적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소음 등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을 조사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설계 도면 및 구동 </a:t>
                      </a:r>
                      <a:r>
                        <a:rPr lang="ko-KR" altLang="en-US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매커니즘을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기반으로 한 </a:t>
                      </a:r>
                      <a:r>
                        <a:rPr lang="ko-KR" altLang="en-US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위험원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리스트 도출 및 체크리스트 작성필요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21145"/>
                  </a:ext>
                </a:extLst>
              </a:tr>
              <a:tr h="668862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위험성 추정 및 평가　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식별된 위험원별로 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상해의 심각성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]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과 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위험 노출 빈도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확률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]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을 조합하여 위험도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(Risk Level)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계산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자체 위험성 평가 매트릭스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(Score)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를 활용하여 정량적 평가 필요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922265"/>
                  </a:ext>
                </a:extLst>
              </a:tr>
              <a:tr h="62928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1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단계</a:t>
                      </a: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: 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본질적 안전 설계　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하드웨어 구조 및 제어 설계 자체를 변경하여 위험 요소를 근본적으로 제거하거나 감소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기계적 날카로운 모서리 </a:t>
                      </a:r>
                      <a:r>
                        <a:rPr lang="ko-KR" altLang="en-US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라운딩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처리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물리적 끼임 방지에 대한 설계의 한계가 있음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101448"/>
                  </a:ext>
                </a:extLst>
              </a:tr>
              <a:tr h="62928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2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단계</a:t>
                      </a: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: 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안전조치　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본질적 설계로 제거되지 않은 위험 영역에 물리적 방호장치 또는 감지 센서 설치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Category 3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등급 영역 보호 센서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비상정지 스위치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범퍼접촉 센서 등으로 안전 조치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안전 동작은 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Safety PLC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를 통해 개별 동작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.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34009"/>
                  </a:ext>
                </a:extLst>
              </a:tr>
              <a:tr h="62715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부가적인 보호장치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제어 시스템의 안전 관련 부품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(SRP/CS)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및 비상 정지 장치의 신뢰성 확보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Category3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등급 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Safety PLC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사용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855953"/>
                  </a:ext>
                </a:extLst>
              </a:tr>
              <a:tr h="62928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3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단계</a:t>
                      </a: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: 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사용 정보 제공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1, 2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단계를 거치고도 남아있는 잔여 위험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(Residual Risk)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에 대해 사용자에게 경고 및 안내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안전 스티커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시그널 램프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안전 표지판 등의 조치 필요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.</a:t>
                      </a: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76446"/>
                  </a:ext>
                </a:extLst>
              </a:tr>
            </a:tbl>
          </a:graphicData>
        </a:graphic>
      </p:graphicFrame>
      <p:sp>
        <p:nvSpPr>
          <p:cNvPr id="7" name="footer-note">
            <a:extLst>
              <a:ext uri="{FF2B5EF4-FFF2-40B4-BE49-F238E27FC236}">
                <a16:creationId xmlns:a16="http://schemas.microsoft.com/office/drawing/2014/main" id="{145B30D4-0020-2263-0881-EEC6DFB3F405}"/>
              </a:ext>
            </a:extLst>
          </p:cNvPr>
          <p:cNvSpPr>
            <a:spLocks noGrp="1"/>
          </p:cNvSpPr>
          <p:nvPr/>
        </p:nvSpPr>
        <p:spPr>
          <a:xfrm>
            <a:off x="322696" y="63627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이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문서는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발주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사양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수정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협의를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위한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설명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자료이며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해석은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인증기관과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재확인해야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합니다</a:t>
            </a:r>
            <a:r>
              <a:rPr sz="105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0051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ection">
            <a:extLst>
              <a:ext uri="{FF2B5EF4-FFF2-40B4-BE49-F238E27FC236}">
                <a16:creationId xmlns:a16="http://schemas.microsoft.com/office/drawing/2014/main" id="{B1AC783E-7538-4FFF-A2D0-C4225834CD6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3. 근거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1A33BC71-390E-49AA-942C-F3F8E9E52DFA}"/>
              </a:ext>
            </a:extLst>
          </p:cNvPr>
          <p:cNvSpPr>
            <a:spLocks noGrp="1"/>
          </p:cNvSpPr>
          <p:nvPr/>
        </p:nvSpPr>
        <p:spPr>
          <a:xfrm>
            <a:off x="2038350" y="361950"/>
            <a:ext cx="8534400" cy="0"/>
          </a:xfrm>
          <a:prstGeom prst="line">
            <a:avLst/>
          </a:prstGeom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0D3DADFE-2CFE-4BD8-A9D7-6AE0B1D2B4B2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구매사양서와 현재 운용 모델 사이의 차이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42B033A6-F30F-46C3-B6A4-8B679C7BB52C}"/>
              </a:ext>
            </a:extLst>
          </p:cNvPr>
          <p:cNvSpPr>
            <a:spLocks noGrp="1"/>
          </p:cNvSpPr>
          <p:nvPr/>
        </p:nvSpPr>
        <p:spPr>
          <a:xfrm>
            <a:off x="11315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4</a:t>
            </a:r>
          </a:p>
        </p:txBody>
      </p:sp>
      <p:sp>
        <p:nvSpPr>
          <p:cNvPr id="35" name="studio">
            <a:extLst>
              <a:ext uri="{FF2B5EF4-FFF2-40B4-BE49-F238E27FC236}">
                <a16:creationId xmlns:a16="http://schemas.microsoft.com/office/drawing/2014/main" id="{6FFEE1A3-B316-E2BF-DE8E-5E62FBAA48D5}"/>
              </a:ext>
            </a:extLst>
          </p:cNvPr>
          <p:cNvSpPr>
            <a:spLocks noGrp="1"/>
          </p:cNvSpPr>
          <p:nvPr/>
        </p:nvSpPr>
        <p:spPr>
          <a:xfrm>
            <a:off x="10640291" y="209550"/>
            <a:ext cx="117301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6CA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3S</a:t>
            </a:r>
            <a:r>
              <a:rPr lang="en-US"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-Robotics</a:t>
            </a:r>
            <a:endParaRPr sz="1350" b="1" dirty="0">
              <a:solidFill>
                <a:srgbClr val="0F6CAD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C48A2CDD-FD15-B864-D731-45F64BC78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865321"/>
              </p:ext>
            </p:extLst>
          </p:nvPr>
        </p:nvGraphicFramePr>
        <p:xfrm>
          <a:off x="742371" y="1257300"/>
          <a:ext cx="10039929" cy="19907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5963">
                  <a:extLst>
                    <a:ext uri="{9D8B030D-6E8A-4147-A177-3AD203B41FA5}">
                      <a16:colId xmlns:a16="http://schemas.microsoft.com/office/drawing/2014/main" val="1784648556"/>
                    </a:ext>
                  </a:extLst>
                </a:gridCol>
                <a:gridCol w="3491346">
                  <a:extLst>
                    <a:ext uri="{9D8B030D-6E8A-4147-A177-3AD203B41FA5}">
                      <a16:colId xmlns:a16="http://schemas.microsoft.com/office/drawing/2014/main" val="3555930783"/>
                    </a:ext>
                  </a:extLst>
                </a:gridCol>
                <a:gridCol w="4322620">
                  <a:extLst>
                    <a:ext uri="{9D8B030D-6E8A-4147-A177-3AD203B41FA5}">
                      <a16:colId xmlns:a16="http://schemas.microsoft.com/office/drawing/2014/main" val="3611462933"/>
                    </a:ext>
                  </a:extLst>
                </a:gridCol>
              </a:tblGrid>
              <a:tr h="346254">
                <a:tc>
                  <a:txBody>
                    <a:bodyPr/>
                    <a:lstStyle/>
                    <a:p>
                      <a:pPr marL="0" algn="ctr" latinLnBrk="1">
                        <a:buNone/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</a:rPr>
                        <a:t>구매사양서 요구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latinLnBrk="1">
                        <a:buNone/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</a:rPr>
                        <a:t>현재 프로젝트 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latinLnBrk="1">
                        <a:buNone/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</a:rPr>
                        <a:t>추가 운용 반영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821667"/>
                  </a:ext>
                </a:extLst>
              </a:tr>
              <a:tr h="58461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실외용 </a:t>
                      </a: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4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륜 </a:t>
                      </a: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AMR, 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라이다</a:t>
                      </a: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/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근접센서</a:t>
                      </a: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050" b="1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아웃트리거</a:t>
                      </a: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리모컨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외부 수동 이동은 유지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내부는 제한 자동 이동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자동 이동 범위를 내부 구간으로 한정할지 협의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89396"/>
                  </a:ext>
                </a:extLst>
              </a:tr>
              <a:tr h="475259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협동로봇 최대 주사속도 </a:t>
                      </a: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150 mm/s 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이상</a:t>
                      </a: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IP65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　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협동로봇 검사는 유지하되 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AMR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과 동시 이동은 금지</a:t>
                      </a:r>
                    </a:p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Category 3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등급 안전 센서 사용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21145"/>
                  </a:ext>
                </a:extLst>
              </a:tr>
              <a:tr h="58461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좌표 동기화</a:t>
                      </a: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알람</a:t>
                      </a: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마킹 시스템</a:t>
                      </a:r>
                      <a:r>
                        <a:rPr lang="en-US" altLang="ko-KR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안전 인증　</a:t>
                      </a:r>
                    </a:p>
                  </a:txBody>
                  <a:tcPr marL="1381" marR="1381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엔코더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기반 절대좌표와 </a:t>
                      </a:r>
                      <a:r>
                        <a:rPr lang="ko-KR" altLang="en-US" sz="1100" b="0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인터락</a:t>
                      </a:r>
                      <a:r>
                        <a:rPr lang="en-US" altLang="ko-KR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안전펜스 반영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대체 안전장치와 시험계획으로 범위 조정 가능</a:t>
                      </a:r>
                    </a:p>
                  </a:txBody>
                  <a:tcPr marL="72000" marR="72000" marT="138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922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15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ction">
            <a:extLst>
              <a:ext uri="{FF2B5EF4-FFF2-40B4-BE49-F238E27FC236}">
                <a16:creationId xmlns:a16="http://schemas.microsoft.com/office/drawing/2014/main" id="{7ABE0F61-9B51-4199-B210-8449E29C955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200" b="1" dirty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4</a:t>
            </a:r>
            <a:r>
              <a:rPr sz="1200" b="1" dirty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200" b="1" dirty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제안</a:t>
            </a:r>
            <a:endParaRPr sz="1200" b="1" dirty="0">
              <a:solidFill>
                <a:srgbClr val="7A7A7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EA1D82D6-AB64-4789-B8F9-050F92162EA5}"/>
              </a:ext>
            </a:extLst>
          </p:cNvPr>
          <p:cNvSpPr>
            <a:spLocks noGrp="1"/>
          </p:cNvSpPr>
          <p:nvPr/>
        </p:nvSpPr>
        <p:spPr>
          <a:xfrm>
            <a:off x="2038350" y="361950"/>
            <a:ext cx="8534400" cy="0"/>
          </a:xfrm>
          <a:prstGeom prst="line">
            <a:avLst/>
          </a:prstGeom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C463F960-8CDB-4744-BEC5-512EF9FF3985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발주사에 제안할 사양 수정 문구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8B65EF50-80CA-4682-8F92-76FAD5DF50DD}"/>
              </a:ext>
            </a:extLst>
          </p:cNvPr>
          <p:cNvSpPr>
            <a:spLocks noGrp="1"/>
          </p:cNvSpPr>
          <p:nvPr/>
        </p:nvSpPr>
        <p:spPr>
          <a:xfrm>
            <a:off x="11315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5</a:t>
            </a:r>
          </a:p>
        </p:txBody>
      </p:sp>
      <p:sp>
        <p:nvSpPr>
          <p:cNvPr id="6" name="left">
            <a:extLst>
              <a:ext uri="{FF2B5EF4-FFF2-40B4-BE49-F238E27FC236}">
                <a16:creationId xmlns:a16="http://schemas.microsoft.com/office/drawing/2014/main" id="{E331900A-47A8-4991-BFF3-2D16A0DE8F3D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52197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right">
            <a:extLst>
              <a:ext uri="{FF2B5EF4-FFF2-40B4-BE49-F238E27FC236}">
                <a16:creationId xmlns:a16="http://schemas.microsoft.com/office/drawing/2014/main" id="{92137042-C767-4997-9D6B-C3A16F802139}"/>
              </a:ext>
            </a:extLst>
          </p:cNvPr>
          <p:cNvSpPr>
            <a:spLocks noGrp="1"/>
          </p:cNvSpPr>
          <p:nvPr/>
        </p:nvSpPr>
        <p:spPr>
          <a:xfrm>
            <a:off x="6134100" y="1219200"/>
            <a:ext cx="52197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left-title">
            <a:extLst>
              <a:ext uri="{FF2B5EF4-FFF2-40B4-BE49-F238E27FC236}">
                <a16:creationId xmlns:a16="http://schemas.microsoft.com/office/drawing/2014/main" id="{4715D630-A216-4A29-A67C-43874E9B6A6F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F8A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권장 수정안</a:t>
            </a:r>
          </a:p>
        </p:txBody>
      </p:sp>
      <p:sp>
        <p:nvSpPr>
          <p:cNvPr id="9" name="left-body">
            <a:extLst>
              <a:ext uri="{FF2B5EF4-FFF2-40B4-BE49-F238E27FC236}">
                <a16:creationId xmlns:a16="http://schemas.microsoft.com/office/drawing/2014/main" id="{CCEEFFB0-C284-4C4B-952B-A6C9C0DB8F1B}"/>
              </a:ext>
            </a:extLst>
          </p:cNvPr>
          <p:cNvSpPr>
            <a:spLocks noGrp="1"/>
          </p:cNvSpPr>
          <p:nvPr/>
        </p:nvSpPr>
        <p:spPr>
          <a:xfrm>
            <a:off x="761999" y="1809749"/>
            <a:ext cx="4909127" cy="35473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  <a:defRPr sz="120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dirty="0">
                <a:solidFill>
                  <a:srgbClr val="111827"/>
                </a:solidFill>
                <a:latin typeface="Malgun Gothic"/>
                <a:ea typeface="Malgun Gothic"/>
              </a:rPr>
              <a:t>AMR </a:t>
            </a:r>
            <a:r>
              <a:rPr lang="ko-KR" altLang="en-US" sz="1200" dirty="0">
                <a:solidFill>
                  <a:srgbClr val="111827"/>
                </a:solidFill>
                <a:latin typeface="Malgun Gothic"/>
                <a:ea typeface="Malgun Gothic"/>
              </a:rPr>
              <a:t>안전 인증 必 </a:t>
            </a:r>
            <a:r>
              <a:rPr lang="en-US" altLang="ko-KR" sz="1200" dirty="0">
                <a:solidFill>
                  <a:srgbClr val="111827"/>
                </a:solidFill>
                <a:latin typeface="Malgun Gothic"/>
                <a:ea typeface="Malgun Gothic"/>
                <a:sym typeface="Wingdings" panose="05000000000000000000" pitchFamily="2" charset="2"/>
              </a:rPr>
              <a:t> </a:t>
            </a:r>
            <a:r>
              <a:rPr lang="en-US" sz="1200" dirty="0">
                <a:solidFill>
                  <a:srgbClr val="111827"/>
                </a:solidFill>
                <a:latin typeface="Malgun Gothic"/>
                <a:ea typeface="Malgun Gothic"/>
              </a:rPr>
              <a:t>AMR </a:t>
            </a:r>
            <a:r>
              <a:rPr lang="ko-KR" altLang="en-US" sz="1200" dirty="0">
                <a:solidFill>
                  <a:srgbClr val="111827"/>
                </a:solidFill>
                <a:latin typeface="Malgun Gothic"/>
                <a:ea typeface="Malgun Gothic"/>
              </a:rPr>
              <a:t>안전 인증에 준하는 기능 적용으로 제안 필요</a:t>
            </a:r>
            <a:endParaRPr sz="1200" dirty="0">
              <a:solidFill>
                <a:srgbClr val="111827"/>
              </a:solidFill>
              <a:latin typeface="Malgun Gothic"/>
              <a:ea typeface="Malgun Gothic"/>
            </a:endParaRPr>
          </a:p>
        </p:txBody>
      </p:sp>
      <p:sp>
        <p:nvSpPr>
          <p:cNvPr id="10" name="right-title">
            <a:extLst>
              <a:ext uri="{FF2B5EF4-FFF2-40B4-BE49-F238E27FC236}">
                <a16:creationId xmlns:a16="http://schemas.microsoft.com/office/drawing/2014/main" id="{52D9772E-080D-4046-96E4-3637FC4DAA4F}"/>
              </a:ext>
            </a:extLst>
          </p:cNvPr>
          <p:cNvSpPr>
            <a:spLocks noGrp="1"/>
          </p:cNvSpPr>
          <p:nvPr/>
        </p:nvSpPr>
        <p:spPr>
          <a:xfrm>
            <a:off x="6343650" y="14287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F6CA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수정 근거</a:t>
            </a:r>
          </a:p>
        </p:txBody>
      </p:sp>
      <p:sp>
        <p:nvSpPr>
          <p:cNvPr id="18" name="studio">
            <a:extLst>
              <a:ext uri="{FF2B5EF4-FFF2-40B4-BE49-F238E27FC236}">
                <a16:creationId xmlns:a16="http://schemas.microsoft.com/office/drawing/2014/main" id="{FF27C2DD-8E1F-3788-BA14-528DDC040842}"/>
              </a:ext>
            </a:extLst>
          </p:cNvPr>
          <p:cNvSpPr>
            <a:spLocks noGrp="1"/>
          </p:cNvSpPr>
          <p:nvPr/>
        </p:nvSpPr>
        <p:spPr>
          <a:xfrm>
            <a:off x="10640291" y="209550"/>
            <a:ext cx="117301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6CA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3S</a:t>
            </a:r>
            <a:r>
              <a:rPr lang="en-US"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-Robotics</a:t>
            </a:r>
            <a:endParaRPr sz="1350" b="1" dirty="0">
              <a:solidFill>
                <a:srgbClr val="0F6CA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left-body">
            <a:extLst>
              <a:ext uri="{FF2B5EF4-FFF2-40B4-BE49-F238E27FC236}">
                <a16:creationId xmlns:a16="http://schemas.microsoft.com/office/drawing/2014/main" id="{4F968B32-E1E2-09AD-4A11-94FDDCBF6B5E}"/>
              </a:ext>
            </a:extLst>
          </p:cNvPr>
          <p:cNvSpPr>
            <a:spLocks noGrp="1"/>
          </p:cNvSpPr>
          <p:nvPr/>
        </p:nvSpPr>
        <p:spPr>
          <a:xfrm>
            <a:off x="6520875" y="1809749"/>
            <a:ext cx="4645890" cy="39814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  <a:defRPr sz="120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dirty="0">
                <a:solidFill>
                  <a:srgbClr val="111827"/>
                </a:solidFill>
                <a:latin typeface="Malgun Gothic"/>
                <a:ea typeface="Malgun Gothic"/>
              </a:rPr>
              <a:t>안전 인증에 의한 </a:t>
            </a:r>
            <a:r>
              <a:rPr lang="en-US" altLang="ko-KR" sz="1200" dirty="0">
                <a:solidFill>
                  <a:srgbClr val="111827"/>
                </a:solidFill>
                <a:latin typeface="Malgun Gothic"/>
                <a:ea typeface="Malgun Gothic"/>
              </a:rPr>
              <a:t>AMR</a:t>
            </a:r>
            <a:r>
              <a:rPr lang="ko-KR" altLang="en-US" sz="1200" dirty="0">
                <a:solidFill>
                  <a:srgbClr val="111827"/>
                </a:solidFill>
                <a:latin typeface="Malgun Gothic"/>
                <a:ea typeface="Malgun Gothic"/>
              </a:rPr>
              <a:t>의 작동 편의성 및 기능 등의 제한이 불가피</a:t>
            </a:r>
            <a:r>
              <a:rPr lang="en-US" altLang="ko-KR" sz="1200" dirty="0">
                <a:solidFill>
                  <a:srgbClr val="111827"/>
                </a:solidFill>
                <a:latin typeface="Malgun Gothic"/>
                <a:ea typeface="Malgun Gothic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  <a:defRPr sz="120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dirty="0">
                <a:solidFill>
                  <a:srgbClr val="111827"/>
                </a:solidFill>
                <a:latin typeface="Malgun Gothic"/>
                <a:ea typeface="Malgun Gothic"/>
              </a:rPr>
              <a:t>하드웨어적 </a:t>
            </a:r>
            <a:r>
              <a:rPr lang="ko-KR" altLang="en-US" sz="1200" dirty="0" err="1">
                <a:solidFill>
                  <a:srgbClr val="111827"/>
                </a:solidFill>
                <a:latin typeface="Malgun Gothic"/>
                <a:ea typeface="Malgun Gothic"/>
              </a:rPr>
              <a:t>인터락</a:t>
            </a:r>
            <a:r>
              <a:rPr lang="en-US" altLang="ko-KR" sz="1200" dirty="0">
                <a:solidFill>
                  <a:srgbClr val="111827"/>
                </a:solidFill>
                <a:latin typeface="Malgun Gothic"/>
                <a:ea typeface="Malgun Gothic"/>
              </a:rPr>
              <a:t>(Interlock)</a:t>
            </a:r>
            <a:r>
              <a:rPr lang="ko-KR" altLang="en-US" sz="1200" dirty="0">
                <a:solidFill>
                  <a:srgbClr val="111827"/>
                </a:solidFill>
                <a:latin typeface="Malgun Gothic"/>
                <a:ea typeface="Malgun Gothic"/>
              </a:rPr>
              <a:t>을 통해 </a:t>
            </a:r>
            <a:r>
              <a:rPr lang="en-US" altLang="ko-KR" sz="1200" dirty="0">
                <a:solidFill>
                  <a:srgbClr val="111827"/>
                </a:solidFill>
                <a:latin typeface="Malgun Gothic"/>
                <a:ea typeface="Malgun Gothic"/>
              </a:rPr>
              <a:t>AMR</a:t>
            </a:r>
            <a:r>
              <a:rPr lang="ko-KR" altLang="en-US" sz="1200" dirty="0">
                <a:solidFill>
                  <a:srgbClr val="111827"/>
                </a:solidFill>
                <a:latin typeface="Malgun Gothic"/>
                <a:ea typeface="Malgun Gothic"/>
              </a:rPr>
              <a:t>의 주행과 협동로봇의 구동을 물리적</a:t>
            </a:r>
            <a:r>
              <a:rPr lang="en-US" altLang="ko-KR" sz="1200" dirty="0">
                <a:solidFill>
                  <a:srgbClr val="111827"/>
                </a:solidFill>
                <a:latin typeface="Malgun Gothic"/>
                <a:ea typeface="Malgun Gothic"/>
              </a:rPr>
              <a:t>·</a:t>
            </a:r>
            <a:r>
              <a:rPr lang="ko-KR" altLang="en-US" sz="1200" dirty="0">
                <a:solidFill>
                  <a:srgbClr val="111827"/>
                </a:solidFill>
                <a:latin typeface="Malgun Gothic"/>
                <a:ea typeface="Malgun Gothic"/>
              </a:rPr>
              <a:t>제어적으로 완전 분리하여 일부 안전 인증의 핵심 요구사항들이 면제되거나 필요성이 낮아짐</a:t>
            </a:r>
            <a:endParaRPr lang="en-US" altLang="ko-KR" sz="1200" dirty="0">
              <a:solidFill>
                <a:srgbClr val="111827"/>
              </a:solidFill>
              <a:latin typeface="Malgun Gothic"/>
              <a:ea typeface="Malgun Gothic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  <a:defRPr sz="120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dirty="0">
                <a:solidFill>
                  <a:srgbClr val="111827"/>
                </a:solidFill>
                <a:latin typeface="Malgun Gothic"/>
                <a:ea typeface="Malgun Gothic"/>
              </a:rPr>
              <a:t>외부 작업자는 원격 조작만 수행하고 내부 구간은 제한적 자동 운용임</a:t>
            </a:r>
            <a:r>
              <a:rPr sz="1200" dirty="0">
                <a:solidFill>
                  <a:srgbClr val="111827"/>
                </a:solidFill>
                <a:latin typeface="Malgun Gothic"/>
                <a:ea typeface="Malgun Gothic"/>
              </a:rPr>
              <a:t>.</a:t>
            </a:r>
            <a:endParaRPr lang="en-US" sz="1200" dirty="0">
              <a:solidFill>
                <a:srgbClr val="111827"/>
              </a:solidFill>
              <a:latin typeface="Malgun Gothic"/>
              <a:ea typeface="Malgun Gothic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  <a:defRPr sz="120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dirty="0">
                <a:solidFill>
                  <a:srgbClr val="111827"/>
                </a:solidFill>
                <a:latin typeface="Malgun Gothic"/>
                <a:ea typeface="Malgun Gothic"/>
              </a:rPr>
              <a:t>안전펜스</a:t>
            </a:r>
            <a:r>
              <a:rPr lang="en-US" altLang="ko-KR" sz="1200" dirty="0">
                <a:solidFill>
                  <a:srgbClr val="111827"/>
                </a:solidFill>
                <a:latin typeface="Malgun Gothic"/>
                <a:ea typeface="Malgun Gothic"/>
              </a:rPr>
              <a:t>, </a:t>
            </a:r>
            <a:r>
              <a:rPr lang="ko-KR" altLang="en-US" sz="1200" dirty="0">
                <a:solidFill>
                  <a:srgbClr val="111827"/>
                </a:solidFill>
                <a:latin typeface="Malgun Gothic"/>
                <a:ea typeface="Malgun Gothic"/>
              </a:rPr>
              <a:t>접근센서</a:t>
            </a:r>
            <a:r>
              <a:rPr lang="en-US" altLang="ko-KR" sz="1200" dirty="0">
                <a:solidFill>
                  <a:srgbClr val="111827"/>
                </a:solidFill>
                <a:latin typeface="Malgun Gothic"/>
                <a:ea typeface="Malgun Gothic"/>
              </a:rPr>
              <a:t>, </a:t>
            </a:r>
            <a:r>
              <a:rPr lang="ko-KR" altLang="en-US" sz="1200" dirty="0">
                <a:solidFill>
                  <a:srgbClr val="111827"/>
                </a:solidFill>
                <a:latin typeface="Malgun Gothic"/>
                <a:ea typeface="Malgun Gothic"/>
              </a:rPr>
              <a:t>알람</a:t>
            </a:r>
            <a:r>
              <a:rPr lang="en-US" altLang="ko-KR" sz="1200" dirty="0">
                <a:solidFill>
                  <a:srgbClr val="111827"/>
                </a:solidFill>
                <a:latin typeface="Malgun Gothic"/>
                <a:ea typeface="Malgun Gothic"/>
              </a:rPr>
              <a:t> </a:t>
            </a:r>
            <a:r>
              <a:rPr lang="ko-KR" altLang="en-US" sz="1200" dirty="0">
                <a:solidFill>
                  <a:srgbClr val="111827"/>
                </a:solidFill>
                <a:latin typeface="Malgun Gothic"/>
                <a:ea typeface="Malgun Gothic"/>
              </a:rPr>
              <a:t>시스템으로 대체 통제를 둘 수 있음</a:t>
            </a:r>
            <a:endParaRPr lang="en-US" altLang="ko-KR" sz="1200" dirty="0">
              <a:solidFill>
                <a:srgbClr val="111827"/>
              </a:solidFill>
              <a:latin typeface="Malgun Gothic"/>
              <a:ea typeface="Malgun Gothic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  <a:defRPr sz="120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dirty="0">
                <a:solidFill>
                  <a:srgbClr val="111827"/>
                </a:solidFill>
                <a:latin typeface="Malgun Gothic"/>
                <a:ea typeface="Malgun Gothic"/>
              </a:rPr>
              <a:t>따라서 적용 표준 범위는 인증기관과 재질의 할 근거가 있음</a:t>
            </a:r>
            <a:endParaRPr sz="1200" dirty="0">
              <a:solidFill>
                <a:srgbClr val="111827"/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2754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D9361-5DC4-3299-A33E-ED431A7B8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ction">
            <a:extLst>
              <a:ext uri="{FF2B5EF4-FFF2-40B4-BE49-F238E27FC236}">
                <a16:creationId xmlns:a16="http://schemas.microsoft.com/office/drawing/2014/main" id="{CD48F2E0-B01A-DB8A-0964-DB5B0ED36093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200" b="1" dirty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200" b="1" dirty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200" b="1" dirty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목표 일정</a:t>
            </a:r>
            <a:endParaRPr sz="1200" b="1" dirty="0">
              <a:solidFill>
                <a:srgbClr val="7A7A7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E5CE5490-65C5-CA7C-C2C6-3EF22E17BC1B}"/>
              </a:ext>
            </a:extLst>
          </p:cNvPr>
          <p:cNvSpPr>
            <a:spLocks noGrp="1"/>
          </p:cNvSpPr>
          <p:nvPr/>
        </p:nvSpPr>
        <p:spPr>
          <a:xfrm>
            <a:off x="2038350" y="361950"/>
            <a:ext cx="8534400" cy="0"/>
          </a:xfrm>
          <a:prstGeom prst="line">
            <a:avLst/>
          </a:prstGeom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4568D14-D2A9-81C3-4CD4-009C0FA8CB0D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1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목표 일정</a:t>
            </a:r>
            <a:endParaRPr sz="1800" b="1" dirty="0">
              <a:solidFill>
                <a:srgbClr val="1118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5F791469-40ED-62BA-392A-C9C885F5B169}"/>
              </a:ext>
            </a:extLst>
          </p:cNvPr>
          <p:cNvSpPr>
            <a:spLocks noGrp="1"/>
          </p:cNvSpPr>
          <p:nvPr/>
        </p:nvSpPr>
        <p:spPr>
          <a:xfrm>
            <a:off x="11315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5</a:t>
            </a:r>
          </a:p>
        </p:txBody>
      </p:sp>
      <p:sp>
        <p:nvSpPr>
          <p:cNvPr id="18" name="studio">
            <a:extLst>
              <a:ext uri="{FF2B5EF4-FFF2-40B4-BE49-F238E27FC236}">
                <a16:creationId xmlns:a16="http://schemas.microsoft.com/office/drawing/2014/main" id="{AEF5432C-CA61-EEAE-F281-1DA156D5A4AC}"/>
              </a:ext>
            </a:extLst>
          </p:cNvPr>
          <p:cNvSpPr>
            <a:spLocks noGrp="1"/>
          </p:cNvSpPr>
          <p:nvPr/>
        </p:nvSpPr>
        <p:spPr>
          <a:xfrm>
            <a:off x="10640291" y="209550"/>
            <a:ext cx="117301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6CA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3S</a:t>
            </a:r>
            <a:r>
              <a:rPr lang="en-US"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-Robotics</a:t>
            </a:r>
            <a:endParaRPr sz="1350" b="1" dirty="0">
              <a:solidFill>
                <a:srgbClr val="0F6CAD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6CF7FE-B863-37E0-A69F-7E46C7EB3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981868"/>
              </p:ext>
            </p:extLst>
          </p:nvPr>
        </p:nvGraphicFramePr>
        <p:xfrm>
          <a:off x="822036" y="1302904"/>
          <a:ext cx="9961204" cy="33152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3096">
                  <a:extLst>
                    <a:ext uri="{9D8B030D-6E8A-4147-A177-3AD203B41FA5}">
                      <a16:colId xmlns:a16="http://schemas.microsoft.com/office/drawing/2014/main" val="1056491755"/>
                    </a:ext>
                  </a:extLst>
                </a:gridCol>
                <a:gridCol w="1268018">
                  <a:extLst>
                    <a:ext uri="{9D8B030D-6E8A-4147-A177-3AD203B41FA5}">
                      <a16:colId xmlns:a16="http://schemas.microsoft.com/office/drawing/2014/main" val="3283905582"/>
                    </a:ext>
                  </a:extLst>
                </a:gridCol>
                <a:gridCol w="1268018">
                  <a:extLst>
                    <a:ext uri="{9D8B030D-6E8A-4147-A177-3AD203B41FA5}">
                      <a16:colId xmlns:a16="http://schemas.microsoft.com/office/drawing/2014/main" val="311998525"/>
                    </a:ext>
                  </a:extLst>
                </a:gridCol>
                <a:gridCol w="1268018">
                  <a:extLst>
                    <a:ext uri="{9D8B030D-6E8A-4147-A177-3AD203B41FA5}">
                      <a16:colId xmlns:a16="http://schemas.microsoft.com/office/drawing/2014/main" val="3817624949"/>
                    </a:ext>
                  </a:extLst>
                </a:gridCol>
                <a:gridCol w="1268018">
                  <a:extLst>
                    <a:ext uri="{9D8B030D-6E8A-4147-A177-3AD203B41FA5}">
                      <a16:colId xmlns:a16="http://schemas.microsoft.com/office/drawing/2014/main" val="2822994014"/>
                    </a:ext>
                  </a:extLst>
                </a:gridCol>
                <a:gridCol w="1268018">
                  <a:extLst>
                    <a:ext uri="{9D8B030D-6E8A-4147-A177-3AD203B41FA5}">
                      <a16:colId xmlns:a16="http://schemas.microsoft.com/office/drawing/2014/main" val="4139948044"/>
                    </a:ext>
                  </a:extLst>
                </a:gridCol>
                <a:gridCol w="1268018">
                  <a:extLst>
                    <a:ext uri="{9D8B030D-6E8A-4147-A177-3AD203B41FA5}">
                      <a16:colId xmlns:a16="http://schemas.microsoft.com/office/drawing/2014/main" val="1446617663"/>
                    </a:ext>
                  </a:extLst>
                </a:gridCol>
              </a:tblGrid>
              <a:tr h="552546">
                <a:tc row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업무 내역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algn="ctr" fontAlgn="ctr" latinLnBrk="1">
                        <a:buNone/>
                      </a:pPr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  <a:cs typeface="+mn-cs"/>
                        </a:rPr>
                        <a:t>2026</a:t>
                      </a:r>
                      <a:r>
                        <a:rPr lang="ko-KR" alt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  <a:cs typeface="+mn-cs"/>
                        </a:rPr>
                        <a:t>년</a:t>
                      </a:r>
                      <a:endParaRPr lang="en-US" altLang="ko-KR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47562"/>
                  </a:ext>
                </a:extLst>
              </a:tr>
              <a:tr h="552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7</a:t>
                      </a:r>
                      <a:endParaRPr lang="ko-KR" altLang="en-US" sz="11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8</a:t>
                      </a:r>
                      <a:endParaRPr lang="ko-KR" altLang="en-US" sz="11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9</a:t>
                      </a:r>
                      <a:endParaRPr lang="ko-KR" altLang="en-US" sz="11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10</a:t>
                      </a:r>
                      <a:endParaRPr lang="ko-KR" altLang="en-US" sz="11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11</a:t>
                      </a:r>
                      <a:endParaRPr lang="ko-KR" altLang="en-US" sz="11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12</a:t>
                      </a:r>
                      <a:endParaRPr lang="ko-KR" altLang="en-US" sz="11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835294"/>
                  </a:ext>
                </a:extLst>
              </a:tr>
              <a:tr h="55254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설계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127842"/>
                  </a:ext>
                </a:extLst>
              </a:tr>
              <a:tr h="55254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제작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　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559244"/>
                  </a:ext>
                </a:extLst>
              </a:tr>
              <a:tr h="55254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제어 프로그램 개발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　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</a:rPr>
                        <a:t>　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916932"/>
                  </a:ext>
                </a:extLst>
              </a:tr>
              <a:tr h="55254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 err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입고및</a:t>
                      </a:r>
                      <a:r>
                        <a:rPr lang="ko-KR" altLang="en-US" sz="105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테스트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</a:rPr>
                        <a:t>　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548937"/>
                  </a:ext>
                </a:extLst>
              </a:tr>
            </a:tbl>
          </a:graphicData>
        </a:graphic>
      </p:graphicFrame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6D685DE-0C95-C855-E31B-4D5B944D35B2}"/>
              </a:ext>
            </a:extLst>
          </p:cNvPr>
          <p:cNvCxnSpPr>
            <a:cxnSpLocks/>
          </p:cNvCxnSpPr>
          <p:nvPr/>
        </p:nvCxnSpPr>
        <p:spPr>
          <a:xfrm>
            <a:off x="3177309" y="2687782"/>
            <a:ext cx="1976581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E449783-B099-BB79-71B7-D5CCD01517AD}"/>
              </a:ext>
            </a:extLst>
          </p:cNvPr>
          <p:cNvCxnSpPr>
            <a:cxnSpLocks/>
          </p:cNvCxnSpPr>
          <p:nvPr/>
        </p:nvCxnSpPr>
        <p:spPr>
          <a:xfrm>
            <a:off x="5153890" y="3241964"/>
            <a:ext cx="1819564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39EDCDC-7659-AA2A-C9BD-9DE1146BB41C}"/>
              </a:ext>
            </a:extLst>
          </p:cNvPr>
          <p:cNvCxnSpPr>
            <a:cxnSpLocks/>
          </p:cNvCxnSpPr>
          <p:nvPr/>
        </p:nvCxnSpPr>
        <p:spPr>
          <a:xfrm>
            <a:off x="6973454" y="3786910"/>
            <a:ext cx="1256146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707F788-4D24-9E6D-5A29-C1A382E410B9}"/>
              </a:ext>
            </a:extLst>
          </p:cNvPr>
          <p:cNvCxnSpPr>
            <a:cxnSpLocks/>
          </p:cNvCxnSpPr>
          <p:nvPr/>
        </p:nvCxnSpPr>
        <p:spPr>
          <a:xfrm>
            <a:off x="7887854" y="4354946"/>
            <a:ext cx="1625601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4704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1424</Words>
  <Application>Microsoft Office PowerPoint</Application>
  <DocSecurity>0</DocSecurity>
  <PresentationFormat>와이드스크린</PresentationFormat>
  <Paragraphs>213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맑은 고딕</vt:lpstr>
      <vt:lpstr>맑은 고딕</vt:lpstr>
      <vt:lpstr>Arial</vt:lpstr>
      <vt:lpstr>Calibri</vt:lpstr>
      <vt:lpstr>Wingdings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태영 박</cp:lastModifiedBy>
  <cp:revision>13</cp:revision>
  <cp:lastPrinted>2026-06-24T04:37:27Z</cp:lastPrinted>
  <dcterms:created xsi:type="dcterms:W3CDTF">2026-06-16T04:34:14Z</dcterms:created>
  <dcterms:modified xsi:type="dcterms:W3CDTF">2026-06-24T04:56:38Z</dcterms:modified>
</cp:coreProperties>
</file>