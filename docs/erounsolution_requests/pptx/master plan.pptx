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65" r:id="rId4"/>
    <p:sldId id="266" r:id="rId5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A9052-14BA-458C-8394-F5D0AA81B47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648DD-4327-4A65-A94D-4DAC8441D9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846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905C-8FE1-E544-049E-5B1D291D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A1D79-61F3-4B98-43FD-48A82D86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2C031-0E17-0759-9559-A69C484C7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75D68-3266-0BFD-081C-B413E3089C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392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24E9F-D0E4-8E8D-E3B9-852532C2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87AC9-D8FE-765A-FC0A-9F6C6F7BD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60550-E190-7855-5003-5CD2187EA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4D4F3-B941-3365-465B-5C3D686B1E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2121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FA7F-9092-166E-3F11-1E9A7076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CAFED-9124-B552-4584-BA263E8E7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DFC89-A031-8B39-BF33-B739241D0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9A8A1-0BEC-D9DF-DBE7-F545C504AC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3965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B478-28BA-1530-21DF-B26E1BDB2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3CE785-E89A-3707-C7B4-F408FEFEC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846CF9-1D95-B333-3AD7-B8F5E850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73C2B-F8CE-BD7A-0635-45301939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5FBE7-99B9-5824-B2D4-46CFDB8A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8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EEAFC-2DDF-2A99-5A0F-3BB5B4A3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E277F-02C1-CE7B-F716-CCC2F490A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DA1D9D-44F6-1EC5-5208-E1DE1F80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6A39D-1914-B3FB-1619-16622316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0EA9B-94F5-897D-193A-D572ECFE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26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44D98-9513-1630-8096-4DAAFBF3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9777D8-C6C2-D64D-7A90-67CECE89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68354-9C14-374D-FB91-05A7835E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83815-4734-126D-920A-766FD803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E3BE38-B217-A339-6F04-2F7DCC10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2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1BDF6-7B89-F6D3-094A-F418600D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1A4135-6157-7DE6-D208-676D6B18B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3C515B-1BB6-4578-E5FB-0CE7EE5C2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EEF42C-3167-2B89-E3BD-D8FB004A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1559D3-8EFE-1EBC-3625-C4904492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1CB276-0872-0A3B-594A-494CD1AC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23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3BD55-784B-5A87-640B-30BEE2F4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5A36D-CBEB-7503-6A84-6F3887BFD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0CBC11-5165-8965-26F6-2335DE134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FD067B-EC3F-8640-DB7F-0808553C2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23441E-D5CD-74B1-E581-6B362F3DD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16AF61-0047-F3AB-D18D-D44CA59D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E68941-E838-B5E4-D03E-5BACB084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538159-F677-1C23-88FB-332A5F1D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92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F2321-9464-D2F3-22E0-D6960AFED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8E2036-783C-A312-BD50-3BD4480A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AC3B93-5092-A0F4-57AF-51BB8D80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CDA9CE-8404-DF5A-CCCD-48FD89B0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6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C1500C-936D-5A69-A7B3-C8723DC3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E254D8-DFF1-64A0-C32A-01FF7828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29266E-EF23-60B4-A875-EE7E7001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99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24ACD-3344-C176-7BB0-E4A19FAD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BB9F4A-D828-FC94-0C7F-686D34CAF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8D48A2-0100-DEB2-E59A-AAF5C959C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E14D55-F7B6-76D7-EC7B-69147598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CEB669-5966-93A7-1EB7-A85B6AC8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5A8F08-7CD6-1B08-E16C-E41D0A83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638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B8D11-8A5C-3AE8-79FB-5AB39683C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F6F2E3-422E-5BC8-FB04-821A6425B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5E555B-D732-29EB-4CF0-09B640E7E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985BFB-921D-23F1-C668-B90BF380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39C365-8811-98EB-943A-5A78CB4C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66522-34FC-1A9D-32EB-B80AAAFD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9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1244B3-DCF5-EEBB-F009-DFBD2CC7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BDF00E-F23A-A4EF-C272-41FF8DB12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F99B9D-CAC9-9A04-BE67-99E6E31D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5E977-EF71-D887-76AC-52D81466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025DE-E6EE-E1C2-A92B-61CB12B8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23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255318-E2E3-C3D0-AFB7-454B24D96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466FD2-6B61-D468-EB84-F5A3CCB1A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BCCB3D-D309-AF22-A2E3-F06E4D75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BA537-9B09-0037-889D-A09EA6A6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97EA86-ADF5-B186-1B8A-58C7A833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290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75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981E50-2B76-3DC2-73CC-216C1070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5E7748-970A-1C40-2F3D-A52905F68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531619-58E9-AA27-8566-87CFA60ED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FEA36-14ED-4EDC-BE17-E4A00E5E2253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BE13C-7B17-1DE7-4F8A-F686D7802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B75B4D-A7B6-ECB2-CAD1-8877BA64C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93E3A-607C-4A60-A29A-5462646A9F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43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A67EB6-9480-1FB9-1E49-73901914C910}"/>
              </a:ext>
            </a:extLst>
          </p:cNvPr>
          <p:cNvSpPr/>
          <p:nvPr/>
        </p:nvSpPr>
        <p:spPr>
          <a:xfrm>
            <a:off x="1560946" y="369454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AMR HW </a:t>
            </a:r>
          </a:p>
          <a:p>
            <a:pPr algn="ctr"/>
            <a:r>
              <a:rPr lang="ko-KR" altLang="en-US" dirty="0"/>
              <a:t>가상장치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99B22F-516A-38B5-3724-33D245039319}"/>
              </a:ext>
            </a:extLst>
          </p:cNvPr>
          <p:cNvSpPr/>
          <p:nvPr/>
        </p:nvSpPr>
        <p:spPr>
          <a:xfrm>
            <a:off x="1560946" y="1505527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AMR Main</a:t>
            </a:r>
            <a:r>
              <a:rPr lang="ko-KR" altLang="en-US" dirty="0"/>
              <a:t> </a:t>
            </a:r>
            <a:r>
              <a:rPr lang="en-US" altLang="ko-KR" dirty="0"/>
              <a:t>Control</a:t>
            </a:r>
            <a:r>
              <a:rPr lang="ko-KR" altLang="en-US" dirty="0"/>
              <a:t> </a:t>
            </a:r>
            <a:r>
              <a:rPr lang="en-US" altLang="ko-KR" dirty="0"/>
              <a:t>Program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7AB4C36-F635-4CBB-EDEC-66EB1CE1C4E7}"/>
              </a:ext>
            </a:extLst>
          </p:cNvPr>
          <p:cNvSpPr/>
          <p:nvPr/>
        </p:nvSpPr>
        <p:spPr>
          <a:xfrm>
            <a:off x="1560946" y="2683163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AMR HW PLC Program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7F55C1-22F9-ED26-C5E4-0740C5E0F6D4}"/>
              </a:ext>
            </a:extLst>
          </p:cNvPr>
          <p:cNvSpPr/>
          <p:nvPr/>
        </p:nvSpPr>
        <p:spPr>
          <a:xfrm>
            <a:off x="1560946" y="3860799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Cobot Control Program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43BB15-A9F8-358D-7498-39256B857D92}"/>
              </a:ext>
            </a:extLst>
          </p:cNvPr>
          <p:cNvSpPr/>
          <p:nvPr/>
        </p:nvSpPr>
        <p:spPr>
          <a:xfrm>
            <a:off x="1560946" y="5038435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UT</a:t>
            </a:r>
            <a:r>
              <a:rPr lang="ko-KR" altLang="en-US" dirty="0"/>
              <a:t> 시스템 연동 </a:t>
            </a:r>
            <a:r>
              <a:rPr lang="en-US" altLang="ko-KR" dirty="0"/>
              <a:t>Program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78F8CFC-D4B6-904E-1F8F-29308F79102C}"/>
              </a:ext>
            </a:extLst>
          </p:cNvPr>
          <p:cNvSpPr/>
          <p:nvPr/>
        </p:nvSpPr>
        <p:spPr>
          <a:xfrm>
            <a:off x="3906982" y="369454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UI</a:t>
            </a:r>
            <a:r>
              <a:rPr lang="ko-KR" altLang="en-US" dirty="0"/>
              <a:t>가 포함된</a:t>
            </a:r>
            <a:endParaRPr lang="en-US" altLang="ko-KR" dirty="0"/>
          </a:p>
          <a:p>
            <a:pPr algn="ctr"/>
            <a:r>
              <a:rPr lang="en-US" altLang="ko-KR" dirty="0"/>
              <a:t>RCS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7D7A00C-C2A4-C1CF-C501-7488C987810D}"/>
              </a:ext>
            </a:extLst>
          </p:cNvPr>
          <p:cNvSpPr/>
          <p:nvPr/>
        </p:nvSpPr>
        <p:spPr>
          <a:xfrm>
            <a:off x="3906982" y="2683164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RCS webserver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6F4562C-0617-2ACD-3B87-C70707AC9ECF}"/>
              </a:ext>
            </a:extLst>
          </p:cNvPr>
          <p:cNvSpPr/>
          <p:nvPr/>
        </p:nvSpPr>
        <p:spPr>
          <a:xfrm>
            <a:off x="3906982" y="3860799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원격 조종 가능한 </a:t>
            </a:r>
            <a:r>
              <a:rPr lang="en-US" altLang="ko-KR" dirty="0"/>
              <a:t>Android App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A823696-3DF1-AF4F-698A-27C226EEB759}"/>
              </a:ext>
            </a:extLst>
          </p:cNvPr>
          <p:cNvSpPr/>
          <p:nvPr/>
        </p:nvSpPr>
        <p:spPr>
          <a:xfrm>
            <a:off x="3906982" y="1505526"/>
            <a:ext cx="2059708" cy="868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전장도</a:t>
            </a:r>
          </a:p>
        </p:txBody>
      </p:sp>
    </p:spTree>
    <p:extLst>
      <p:ext uri="{BB962C8B-B14F-4D97-AF65-F5344CB8AC3E}">
        <p14:creationId xmlns:p14="http://schemas.microsoft.com/office/powerpoint/2010/main" val="161181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9361-5DC4-3299-A33E-ED431A7B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CD48F2E0-B01A-DB8A-0964-DB5B0ED3609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Master plan</a:t>
            </a:r>
            <a:endParaRPr sz="1200" b="1" dirty="0">
              <a:solidFill>
                <a:srgbClr val="7A7A7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E5CE5490-65C5-CA7C-C2C6-3EF22E17BC1B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4568D14-D2A9-81C3-4CD4-009C0FA8CB0D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목표 일정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5F791469-40ED-62BA-392A-C9C885F5B169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5</a:t>
            </a:r>
          </a:p>
        </p:txBody>
      </p:sp>
      <p:sp>
        <p:nvSpPr>
          <p:cNvPr id="18" name="studio">
            <a:extLst>
              <a:ext uri="{FF2B5EF4-FFF2-40B4-BE49-F238E27FC236}">
                <a16:creationId xmlns:a16="http://schemas.microsoft.com/office/drawing/2014/main" id="{AEF5432C-CA61-EEAE-F281-1DA156D5A4AC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6CF7FE-B863-37E0-A69F-7E46C7EB3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19624"/>
              </p:ext>
            </p:extLst>
          </p:nvPr>
        </p:nvGraphicFramePr>
        <p:xfrm>
          <a:off x="1115392" y="990600"/>
          <a:ext cx="9961216" cy="4527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548">
                  <a:extLst>
                    <a:ext uri="{9D8B030D-6E8A-4147-A177-3AD203B41FA5}">
                      <a16:colId xmlns:a16="http://schemas.microsoft.com/office/drawing/2014/main" val="1056491755"/>
                    </a:ext>
                  </a:extLst>
                </a:gridCol>
                <a:gridCol w="1176548">
                  <a:extLst>
                    <a:ext uri="{9D8B030D-6E8A-4147-A177-3AD203B41FA5}">
                      <a16:colId xmlns:a16="http://schemas.microsoft.com/office/drawing/2014/main" val="276474633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28390558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715378048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617160961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86639707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1199852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57819354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1114485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57690763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817624949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07061397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460936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406922309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299401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28837706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13820889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34333151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413994804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43208307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60885310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73229175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44661766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6573197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91457320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2993055"/>
                    </a:ext>
                  </a:extLst>
                </a:gridCol>
              </a:tblGrid>
              <a:tr h="248391">
                <a:tc rowSpan="3"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업무 내역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marL="0" algn="ctr" fontAlgn="ctr" latinLnBrk="1">
                        <a:buNone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2026</a:t>
                      </a:r>
                      <a:r>
                        <a:rPr lang="ko-KR" altLang="en-US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년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47562"/>
                  </a:ext>
                </a:extLst>
              </a:tr>
              <a:tr h="18533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835294"/>
                  </a:ext>
                </a:extLst>
              </a:tr>
              <a:tr h="18533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163133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설계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7842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제작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59244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전장도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16932"/>
                  </a:ext>
                </a:extLst>
              </a:tr>
              <a:tr h="298631">
                <a:tc rowSpan="8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프로그램 개발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HW </a:t>
                      </a: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가상장치 개발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48937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Main Control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915012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HW PLC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22004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Cobot Control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05670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RCS webserver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55484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원격 조종 가능한 </a:t>
                      </a: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Android App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300322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UT </a:t>
                      </a: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시스템 연동 </a:t>
                      </a: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017350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UI</a:t>
                      </a: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가 포함된</a:t>
                      </a:r>
                    </a:p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RCS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913098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UT System </a:t>
                      </a:r>
                      <a:r>
                        <a:rPr lang="ko-KR" altLang="en-US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연동 테스트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92429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Field Test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85098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D685DE-0C95-C855-E31B-4D5B944D35B2}"/>
              </a:ext>
            </a:extLst>
          </p:cNvPr>
          <p:cNvCxnSpPr>
            <a:cxnSpLocks/>
          </p:cNvCxnSpPr>
          <p:nvPr/>
        </p:nvCxnSpPr>
        <p:spPr>
          <a:xfrm>
            <a:off x="3455441" y="1811646"/>
            <a:ext cx="12573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E449783-B099-BB79-71B7-D5CCD01517AD}"/>
              </a:ext>
            </a:extLst>
          </p:cNvPr>
          <p:cNvCxnSpPr>
            <a:cxnSpLocks/>
          </p:cNvCxnSpPr>
          <p:nvPr/>
        </p:nvCxnSpPr>
        <p:spPr>
          <a:xfrm>
            <a:off x="4712741" y="2107209"/>
            <a:ext cx="1819564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39EDCDC-7659-AA2A-C9BD-9DE1146BB41C}"/>
              </a:ext>
            </a:extLst>
          </p:cNvPr>
          <p:cNvCxnSpPr>
            <a:cxnSpLocks/>
          </p:cNvCxnSpPr>
          <p:nvPr/>
        </p:nvCxnSpPr>
        <p:spPr>
          <a:xfrm>
            <a:off x="3475067" y="2698337"/>
            <a:ext cx="350983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0ADE4BA-B81E-0F13-040D-A1CB2ACFF8D1}"/>
              </a:ext>
            </a:extLst>
          </p:cNvPr>
          <p:cNvCxnSpPr>
            <a:cxnSpLocks/>
          </p:cNvCxnSpPr>
          <p:nvPr/>
        </p:nvCxnSpPr>
        <p:spPr>
          <a:xfrm>
            <a:off x="3807578" y="2984664"/>
            <a:ext cx="3048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151E776-3801-F4DE-D96A-6DA9D7CB9244}"/>
              </a:ext>
            </a:extLst>
          </p:cNvPr>
          <p:cNvCxnSpPr>
            <a:cxnSpLocks/>
          </p:cNvCxnSpPr>
          <p:nvPr/>
        </p:nvCxnSpPr>
        <p:spPr>
          <a:xfrm>
            <a:off x="6643142" y="3866736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E99518B-B300-988A-6585-66BA73A381A5}"/>
              </a:ext>
            </a:extLst>
          </p:cNvPr>
          <p:cNvCxnSpPr>
            <a:cxnSpLocks/>
          </p:cNvCxnSpPr>
          <p:nvPr/>
        </p:nvCxnSpPr>
        <p:spPr>
          <a:xfrm>
            <a:off x="5063723" y="3003136"/>
            <a:ext cx="157941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F773BE1-E0C8-1E30-4A2F-04838809BD4A}"/>
              </a:ext>
            </a:extLst>
          </p:cNvPr>
          <p:cNvCxnSpPr>
            <a:cxnSpLocks/>
          </p:cNvCxnSpPr>
          <p:nvPr/>
        </p:nvCxnSpPr>
        <p:spPr>
          <a:xfrm>
            <a:off x="6957178" y="4171536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0962051-ADE1-EA33-A391-F68984C953A3}"/>
              </a:ext>
            </a:extLst>
          </p:cNvPr>
          <p:cNvCxnSpPr>
            <a:cxnSpLocks/>
          </p:cNvCxnSpPr>
          <p:nvPr/>
        </p:nvCxnSpPr>
        <p:spPr>
          <a:xfrm>
            <a:off x="4112378" y="4771901"/>
            <a:ext cx="218901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5A13CF9-94A5-BB4C-0607-8AA0C052F986}"/>
              </a:ext>
            </a:extLst>
          </p:cNvPr>
          <p:cNvCxnSpPr>
            <a:cxnSpLocks/>
          </p:cNvCxnSpPr>
          <p:nvPr/>
        </p:nvCxnSpPr>
        <p:spPr>
          <a:xfrm>
            <a:off x="6301397" y="4504044"/>
            <a:ext cx="1893453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FBB1CF4-2DAB-34F9-8AE6-AF4CFB0DFE61}"/>
              </a:ext>
            </a:extLst>
          </p:cNvPr>
          <p:cNvCxnSpPr>
            <a:cxnSpLocks/>
          </p:cNvCxnSpPr>
          <p:nvPr/>
        </p:nvCxnSpPr>
        <p:spPr>
          <a:xfrm>
            <a:off x="7289687" y="5095171"/>
            <a:ext cx="123547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45EE6A2-F9D0-0DCC-8C1A-EA7197813F74}"/>
              </a:ext>
            </a:extLst>
          </p:cNvPr>
          <p:cNvCxnSpPr>
            <a:cxnSpLocks/>
          </p:cNvCxnSpPr>
          <p:nvPr/>
        </p:nvCxnSpPr>
        <p:spPr>
          <a:xfrm>
            <a:off x="8525164" y="5381498"/>
            <a:ext cx="123547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470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CC34-245E-9E60-5FD9-C6A69303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945D1EE0-E703-6B1C-1E1B-D0825D2B0163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Master plan</a:t>
            </a:r>
            <a:endParaRPr sz="1200" b="1" dirty="0">
              <a:solidFill>
                <a:srgbClr val="7A7A7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0B47373B-44BB-7F89-0135-6200D0A29755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6AD4CF5-789A-8A3D-A9C3-AFBA02AF154D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목표 일정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91D4C363-FBCE-5187-76CE-1C2D2E675226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5</a:t>
            </a:r>
          </a:p>
        </p:txBody>
      </p:sp>
      <p:sp>
        <p:nvSpPr>
          <p:cNvPr id="18" name="studio">
            <a:extLst>
              <a:ext uri="{FF2B5EF4-FFF2-40B4-BE49-F238E27FC236}">
                <a16:creationId xmlns:a16="http://schemas.microsoft.com/office/drawing/2014/main" id="{3B613C81-25AD-10D6-74FD-B1AB70FFDB4D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6ED38DA-5B86-B4EC-CE06-9A339C7F0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40221"/>
              </p:ext>
            </p:extLst>
          </p:nvPr>
        </p:nvGraphicFramePr>
        <p:xfrm>
          <a:off x="1115392" y="990600"/>
          <a:ext cx="9961216" cy="4646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548">
                  <a:extLst>
                    <a:ext uri="{9D8B030D-6E8A-4147-A177-3AD203B41FA5}">
                      <a16:colId xmlns:a16="http://schemas.microsoft.com/office/drawing/2014/main" val="1056491755"/>
                    </a:ext>
                  </a:extLst>
                </a:gridCol>
                <a:gridCol w="1176548">
                  <a:extLst>
                    <a:ext uri="{9D8B030D-6E8A-4147-A177-3AD203B41FA5}">
                      <a16:colId xmlns:a16="http://schemas.microsoft.com/office/drawing/2014/main" val="276474633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28390558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715378048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617160961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86639707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1199852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57819354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1114485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57690763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817624949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07061397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460936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406922309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299401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28837706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13820889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34333151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413994804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43208307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60885310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73229175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44661766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6573197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91457320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2993055"/>
                    </a:ext>
                  </a:extLst>
                </a:gridCol>
              </a:tblGrid>
              <a:tr h="248391">
                <a:tc rowSpan="3"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Task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marL="0" algn="ctr" fontAlgn="ctr" latinLnBrk="1">
                        <a:buNone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2026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47562"/>
                  </a:ext>
                </a:extLst>
              </a:tr>
              <a:tr h="18533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835294"/>
                  </a:ext>
                </a:extLst>
              </a:tr>
              <a:tr h="18533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163133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Mechanical Design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7842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Manufacturing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59244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Electrical Design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16932"/>
                  </a:ext>
                </a:extLst>
              </a:tr>
              <a:tr h="298631">
                <a:tc rowSpan="8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Software Development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Hardware Simulator Development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48937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Main Control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915012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HW PLC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22004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Cobot Control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05670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RCS webserver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55484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Remote Control App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300322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UT System Integration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017350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RCS User Interface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913098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UT System Integration Program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92429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Field Test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85098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2CC7EA0-8FC1-C2AB-94F5-A0677C29058A}"/>
              </a:ext>
            </a:extLst>
          </p:cNvPr>
          <p:cNvCxnSpPr>
            <a:cxnSpLocks/>
          </p:cNvCxnSpPr>
          <p:nvPr/>
        </p:nvCxnSpPr>
        <p:spPr>
          <a:xfrm>
            <a:off x="3455441" y="1811646"/>
            <a:ext cx="12573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093A600-D261-7BA0-6A7E-2E67D8AFB1C6}"/>
              </a:ext>
            </a:extLst>
          </p:cNvPr>
          <p:cNvCxnSpPr>
            <a:cxnSpLocks/>
          </p:cNvCxnSpPr>
          <p:nvPr/>
        </p:nvCxnSpPr>
        <p:spPr>
          <a:xfrm>
            <a:off x="4712741" y="2107209"/>
            <a:ext cx="1819564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CA52A48-A46F-17C0-C1E1-C8334D5A83E9}"/>
              </a:ext>
            </a:extLst>
          </p:cNvPr>
          <p:cNvCxnSpPr>
            <a:cxnSpLocks/>
          </p:cNvCxnSpPr>
          <p:nvPr/>
        </p:nvCxnSpPr>
        <p:spPr>
          <a:xfrm>
            <a:off x="3475067" y="2698337"/>
            <a:ext cx="350983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4B571EF-4F83-2C7E-1350-6CB8D8EAA22F}"/>
              </a:ext>
            </a:extLst>
          </p:cNvPr>
          <p:cNvCxnSpPr>
            <a:cxnSpLocks/>
          </p:cNvCxnSpPr>
          <p:nvPr/>
        </p:nvCxnSpPr>
        <p:spPr>
          <a:xfrm>
            <a:off x="3807578" y="2984664"/>
            <a:ext cx="3048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A2B2486-0F0E-31D8-4534-1AE519362C8E}"/>
              </a:ext>
            </a:extLst>
          </p:cNvPr>
          <p:cNvCxnSpPr>
            <a:cxnSpLocks/>
          </p:cNvCxnSpPr>
          <p:nvPr/>
        </p:nvCxnSpPr>
        <p:spPr>
          <a:xfrm>
            <a:off x="6643142" y="3866736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4927EA0-AA13-CE9A-62D2-54CEFA55E077}"/>
              </a:ext>
            </a:extLst>
          </p:cNvPr>
          <p:cNvCxnSpPr>
            <a:cxnSpLocks/>
          </p:cNvCxnSpPr>
          <p:nvPr/>
        </p:nvCxnSpPr>
        <p:spPr>
          <a:xfrm>
            <a:off x="5063723" y="3003136"/>
            <a:ext cx="157941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ECDBB7E-C35C-0538-E7C7-A190EB2A58BD}"/>
              </a:ext>
            </a:extLst>
          </p:cNvPr>
          <p:cNvCxnSpPr>
            <a:cxnSpLocks/>
          </p:cNvCxnSpPr>
          <p:nvPr/>
        </p:nvCxnSpPr>
        <p:spPr>
          <a:xfrm>
            <a:off x="6957178" y="4171536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3080CB5-0AA1-FB45-7300-CF0DFBB83364}"/>
              </a:ext>
            </a:extLst>
          </p:cNvPr>
          <p:cNvCxnSpPr>
            <a:cxnSpLocks/>
          </p:cNvCxnSpPr>
          <p:nvPr/>
        </p:nvCxnSpPr>
        <p:spPr>
          <a:xfrm>
            <a:off x="4112378" y="4494808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98342D3-8DDB-4130-8375-DD79597ED3C7}"/>
              </a:ext>
            </a:extLst>
          </p:cNvPr>
          <p:cNvCxnSpPr>
            <a:cxnSpLocks/>
          </p:cNvCxnSpPr>
          <p:nvPr/>
        </p:nvCxnSpPr>
        <p:spPr>
          <a:xfrm>
            <a:off x="4454123" y="4781137"/>
            <a:ext cx="218901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4825E9C-7D47-068D-6740-0F3AE704DEA0}"/>
              </a:ext>
            </a:extLst>
          </p:cNvPr>
          <p:cNvCxnSpPr>
            <a:cxnSpLocks/>
          </p:cNvCxnSpPr>
          <p:nvPr/>
        </p:nvCxnSpPr>
        <p:spPr>
          <a:xfrm>
            <a:off x="6643142" y="4504044"/>
            <a:ext cx="1551708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0F7BCAB-9B51-D670-1E3C-6BCBEF302DF3}"/>
              </a:ext>
            </a:extLst>
          </p:cNvPr>
          <p:cNvCxnSpPr>
            <a:cxnSpLocks/>
          </p:cNvCxnSpPr>
          <p:nvPr/>
        </p:nvCxnSpPr>
        <p:spPr>
          <a:xfrm>
            <a:off x="7289687" y="5196777"/>
            <a:ext cx="123547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203B3BB-F48D-5252-503B-E90487BEFCA6}"/>
              </a:ext>
            </a:extLst>
          </p:cNvPr>
          <p:cNvCxnSpPr>
            <a:cxnSpLocks/>
          </p:cNvCxnSpPr>
          <p:nvPr/>
        </p:nvCxnSpPr>
        <p:spPr>
          <a:xfrm>
            <a:off x="8555069" y="5492336"/>
            <a:ext cx="123547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6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10C2-9FEB-012E-7A54-18E23764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">
            <a:extLst>
              <a:ext uri="{FF2B5EF4-FFF2-40B4-BE49-F238E27FC236}">
                <a16:creationId xmlns:a16="http://schemas.microsoft.com/office/drawing/2014/main" id="{ED2D359F-1652-BAD4-A3AB-C5C735AF4C5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200" b="1" dirty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Master plan</a:t>
            </a:r>
            <a:endParaRPr sz="1200" b="1" dirty="0">
              <a:solidFill>
                <a:srgbClr val="7A7A7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34F2C886-9721-8517-3DEF-A762BBC85631}"/>
              </a:ext>
            </a:extLst>
          </p:cNvPr>
          <p:cNvSpPr>
            <a:spLocks noGrp="1"/>
          </p:cNvSpPr>
          <p:nvPr/>
        </p:nvSpPr>
        <p:spPr>
          <a:xfrm>
            <a:off x="2038350" y="361950"/>
            <a:ext cx="8534400" cy="0"/>
          </a:xfrm>
          <a:prstGeom prst="line">
            <a:avLst/>
          </a:prstGeom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F425EDB-3C31-41E0-5B5C-B3B25F430A92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1" dirty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목표 일정</a:t>
            </a:r>
            <a:endParaRPr sz="1800" b="1" dirty="0">
              <a:solidFill>
                <a:srgbClr val="11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2F2CEF8F-862A-0B7B-0B0E-AAFCDCBC5EF8}"/>
              </a:ext>
            </a:extLst>
          </p:cNvPr>
          <p:cNvSpPr>
            <a:spLocks noGrp="1"/>
          </p:cNvSpPr>
          <p:nvPr/>
        </p:nvSpPr>
        <p:spPr>
          <a:xfrm>
            <a:off x="11315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/ 5</a:t>
            </a:r>
          </a:p>
        </p:txBody>
      </p:sp>
      <p:sp>
        <p:nvSpPr>
          <p:cNvPr id="18" name="studio">
            <a:extLst>
              <a:ext uri="{FF2B5EF4-FFF2-40B4-BE49-F238E27FC236}">
                <a16:creationId xmlns:a16="http://schemas.microsoft.com/office/drawing/2014/main" id="{8920254F-8BB4-A9AE-9064-2447938D7ED7}"/>
              </a:ext>
            </a:extLst>
          </p:cNvPr>
          <p:cNvSpPr>
            <a:spLocks noGrp="1"/>
          </p:cNvSpPr>
          <p:nvPr/>
        </p:nvSpPr>
        <p:spPr>
          <a:xfrm>
            <a:off x="10640291" y="209550"/>
            <a:ext cx="117301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6CA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3S</a:t>
            </a:r>
            <a:r>
              <a:rPr lang="en-US" sz="1350" b="1" dirty="0">
                <a:solidFill>
                  <a:srgbClr val="0F6CAD"/>
                </a:solidFill>
                <a:latin typeface="Malgun Gothic"/>
                <a:ea typeface="Malgun Gothic"/>
                <a:cs typeface="Malgun Gothic"/>
              </a:rPr>
              <a:t>-Robotics</a:t>
            </a:r>
            <a:endParaRPr sz="1350" b="1" dirty="0">
              <a:solidFill>
                <a:srgbClr val="0F6CAD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348C29-B7D3-DA0D-DDF5-61666030A7DE}"/>
              </a:ext>
            </a:extLst>
          </p:cNvPr>
          <p:cNvGraphicFramePr>
            <a:graphicFrameLocks noGrp="1"/>
          </p:cNvGraphicFramePr>
          <p:nvPr/>
        </p:nvGraphicFramePr>
        <p:xfrm>
          <a:off x="1115392" y="990600"/>
          <a:ext cx="9961216" cy="4646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548">
                  <a:extLst>
                    <a:ext uri="{9D8B030D-6E8A-4147-A177-3AD203B41FA5}">
                      <a16:colId xmlns:a16="http://schemas.microsoft.com/office/drawing/2014/main" val="1056491755"/>
                    </a:ext>
                  </a:extLst>
                </a:gridCol>
                <a:gridCol w="1176548">
                  <a:extLst>
                    <a:ext uri="{9D8B030D-6E8A-4147-A177-3AD203B41FA5}">
                      <a16:colId xmlns:a16="http://schemas.microsoft.com/office/drawing/2014/main" val="276474633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28390558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715378048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617160961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86639707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1199852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57819354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1114485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57690763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817624949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07061397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460936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406922309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299401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288377062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13820889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34333151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413994804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432083075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608853107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73229175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1446617663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65731976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3914573204"/>
                    </a:ext>
                  </a:extLst>
                </a:gridCol>
                <a:gridCol w="317005">
                  <a:extLst>
                    <a:ext uri="{9D8B030D-6E8A-4147-A177-3AD203B41FA5}">
                      <a16:colId xmlns:a16="http://schemas.microsoft.com/office/drawing/2014/main" val="2822993055"/>
                    </a:ext>
                  </a:extLst>
                </a:gridCol>
              </a:tblGrid>
              <a:tr h="248391">
                <a:tc rowSpan="3"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Task</a:t>
                      </a:r>
                      <a:endParaRPr lang="ko-KR" altLang="en-US" sz="11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marL="0" algn="ctr" fontAlgn="ctr" latinLnBrk="1">
                        <a:buNone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algun Gothic"/>
                          <a:ea typeface="Malgun Gothic"/>
                          <a:cs typeface="+mn-cs"/>
                        </a:rPr>
                        <a:t>2026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47562"/>
                  </a:ext>
                </a:extLst>
              </a:tr>
              <a:tr h="18533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835294"/>
                  </a:ext>
                </a:extLst>
              </a:tr>
              <a:tr h="18533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  <a:endParaRPr lang="ko-KR" altLang="en-US" sz="10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163133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Mechanical Design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7842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Manufacturing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59244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Electrical Design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16932"/>
                  </a:ext>
                </a:extLst>
              </a:tr>
              <a:tr h="298631">
                <a:tc rowSpan="8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Software Development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Hardware Simulator Development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48937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Main Control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915012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AMR HW PLC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22004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Cobot Control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05670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RCS webserver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55484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Remote Control App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300322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UT System Integration Program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017350"/>
                  </a:ext>
                </a:extLst>
              </a:tr>
              <a:tr h="298631">
                <a:tc v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RCS User Interface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913098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UT System Integration Program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92429"/>
                  </a:ext>
                </a:extLst>
              </a:tr>
              <a:tr h="298631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37415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Field Test</a:t>
                      </a:r>
                      <a:endParaRPr lang="ko-KR" altLang="en-US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rgbClr val="37415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85098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CAD5B5C-2003-5BDC-5941-79500EA7A483}"/>
              </a:ext>
            </a:extLst>
          </p:cNvPr>
          <p:cNvCxnSpPr>
            <a:cxnSpLocks/>
          </p:cNvCxnSpPr>
          <p:nvPr/>
        </p:nvCxnSpPr>
        <p:spPr>
          <a:xfrm>
            <a:off x="3455441" y="1811646"/>
            <a:ext cx="12573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8FA6108-0F75-F71D-6599-E344691B9CC0}"/>
              </a:ext>
            </a:extLst>
          </p:cNvPr>
          <p:cNvCxnSpPr>
            <a:cxnSpLocks/>
          </p:cNvCxnSpPr>
          <p:nvPr/>
        </p:nvCxnSpPr>
        <p:spPr>
          <a:xfrm>
            <a:off x="4712741" y="2107209"/>
            <a:ext cx="1819564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AB26465-9401-3847-5319-F11816B52911}"/>
              </a:ext>
            </a:extLst>
          </p:cNvPr>
          <p:cNvCxnSpPr>
            <a:cxnSpLocks/>
          </p:cNvCxnSpPr>
          <p:nvPr/>
        </p:nvCxnSpPr>
        <p:spPr>
          <a:xfrm>
            <a:off x="3475067" y="2698337"/>
            <a:ext cx="350983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D9690FA-4620-05ED-4CE0-37B672A8BB6A}"/>
              </a:ext>
            </a:extLst>
          </p:cNvPr>
          <p:cNvCxnSpPr>
            <a:cxnSpLocks/>
          </p:cNvCxnSpPr>
          <p:nvPr/>
        </p:nvCxnSpPr>
        <p:spPr>
          <a:xfrm>
            <a:off x="3807578" y="3086260"/>
            <a:ext cx="3048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2CE19F1-A4F1-AABC-489C-B099AD744834}"/>
              </a:ext>
            </a:extLst>
          </p:cNvPr>
          <p:cNvCxnSpPr>
            <a:cxnSpLocks/>
          </p:cNvCxnSpPr>
          <p:nvPr/>
        </p:nvCxnSpPr>
        <p:spPr>
          <a:xfrm>
            <a:off x="6643142" y="3968332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B97B295-3B41-84A5-5860-98FDDD6362BC}"/>
              </a:ext>
            </a:extLst>
          </p:cNvPr>
          <p:cNvCxnSpPr>
            <a:cxnSpLocks/>
          </p:cNvCxnSpPr>
          <p:nvPr/>
        </p:nvCxnSpPr>
        <p:spPr>
          <a:xfrm>
            <a:off x="5063723" y="3104732"/>
            <a:ext cx="157941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9B6EE68-251A-8077-64A5-21D9F8AA6771}"/>
              </a:ext>
            </a:extLst>
          </p:cNvPr>
          <p:cNvCxnSpPr>
            <a:cxnSpLocks/>
          </p:cNvCxnSpPr>
          <p:nvPr/>
        </p:nvCxnSpPr>
        <p:spPr>
          <a:xfrm>
            <a:off x="6957178" y="4273132"/>
            <a:ext cx="33250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47471E9-F0A0-3B3A-C6AD-FC7C7173C89B}"/>
              </a:ext>
            </a:extLst>
          </p:cNvPr>
          <p:cNvCxnSpPr>
            <a:cxnSpLocks/>
          </p:cNvCxnSpPr>
          <p:nvPr/>
        </p:nvCxnSpPr>
        <p:spPr>
          <a:xfrm>
            <a:off x="4121614" y="4891969"/>
            <a:ext cx="2189019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C541140-09F3-5364-2881-DCA920492879}"/>
              </a:ext>
            </a:extLst>
          </p:cNvPr>
          <p:cNvCxnSpPr>
            <a:cxnSpLocks/>
          </p:cNvCxnSpPr>
          <p:nvPr/>
        </p:nvCxnSpPr>
        <p:spPr>
          <a:xfrm>
            <a:off x="6310633" y="4605640"/>
            <a:ext cx="188421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5699002-2295-555E-E771-8ADBE51C856B}"/>
              </a:ext>
            </a:extLst>
          </p:cNvPr>
          <p:cNvCxnSpPr>
            <a:cxnSpLocks/>
          </p:cNvCxnSpPr>
          <p:nvPr/>
        </p:nvCxnSpPr>
        <p:spPr>
          <a:xfrm>
            <a:off x="7289687" y="5196777"/>
            <a:ext cx="123547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D2F37D0-1F0D-A9A3-5FE6-AB7118FA3B7D}"/>
              </a:ext>
            </a:extLst>
          </p:cNvPr>
          <p:cNvCxnSpPr>
            <a:cxnSpLocks/>
          </p:cNvCxnSpPr>
          <p:nvPr/>
        </p:nvCxnSpPr>
        <p:spPr>
          <a:xfrm>
            <a:off x="8555069" y="5492336"/>
            <a:ext cx="1235477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99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345</Words>
  <Application>Microsoft Office PowerPoint</Application>
  <PresentationFormat>와이드스크린</PresentationFormat>
  <Paragraphs>234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태영 박</dc:creator>
  <cp:lastModifiedBy>태영 박</cp:lastModifiedBy>
  <cp:revision>4</cp:revision>
  <cp:lastPrinted>2026-06-29T01:50:02Z</cp:lastPrinted>
  <dcterms:created xsi:type="dcterms:W3CDTF">2026-06-29T01:28:11Z</dcterms:created>
  <dcterms:modified xsi:type="dcterms:W3CDTF">2026-07-16T08:30:04Z</dcterms:modified>
</cp:coreProperties>
</file>